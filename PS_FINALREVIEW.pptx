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5" r:id="rId7"/>
    <p:sldId id="263" r:id="rId8"/>
    <p:sldId id="264" r:id="rId9"/>
    <p:sldId id="265" r:id="rId10"/>
    <p:sldId id="266" r:id="rId11"/>
    <p:sldId id="267" r:id="rId12"/>
    <p:sldId id="272" r:id="rId13"/>
    <p:sldId id="273" r:id="rId14"/>
    <p:sldId id="274" r:id="rId15"/>
    <p:sldId id="270" r:id="rId1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0" dt="2026-10-03T12:06:57.130"/>
    <p1510:client id="{8102E998-29AB-4BD1-8E19-2A8F48CA6253}" v="10" dt="2026-10-03T12:08:03.127"/>
    <p1510:client id="{B1AD43CA-6467-0A33-26D0-35C87291220E}" v="38" dt="2026-10-03T15:56:03.45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82E7A6-B41C-4D08-A2C0-02BED9A517BF}" type="doc">
      <dgm:prSet loTypeId="urn:microsoft.com/office/officeart/2024/layout/VerticalAction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F68E517D-75A0-4BAC-86A0-74B7CC97CC6C}">
      <dgm:prSet phldrT="[Text]"/>
      <dgm:spPr/>
      <dgm:t>
        <a:bodyPr/>
        <a:lstStyle/>
        <a:p>
          <a:r>
            <a:rPr lang="en-IN">
              <a:latin typeface="Arial "/>
              <a:cs typeface="Arial MT"/>
            </a:rPr>
            <a:t>1.</a:t>
          </a:r>
          <a:r>
            <a:rPr lang="en-IN" spc="-10">
              <a:latin typeface="Arial "/>
              <a:cs typeface="Arial MT"/>
            </a:rPr>
            <a:t> </a:t>
          </a:r>
          <a:r>
            <a:rPr lang="en-IN">
              <a:latin typeface="Arial "/>
              <a:cs typeface="Arial MT"/>
            </a:rPr>
            <a:t>Input</a:t>
          </a:r>
          <a:r>
            <a:rPr lang="en-IN" spc="-5">
              <a:latin typeface="Arial "/>
              <a:cs typeface="Arial MT"/>
            </a:rPr>
            <a:t> </a:t>
          </a:r>
          <a:r>
            <a:rPr lang="en-IN" spc="-20">
              <a:latin typeface="Arial "/>
              <a:cs typeface="Arial MT"/>
            </a:rPr>
            <a:t>Layer</a:t>
          </a:r>
          <a:endParaRPr lang="en-IN"/>
        </a:p>
      </dgm:t>
    </dgm:pt>
    <dgm:pt modelId="{B46ED674-8505-4711-BED7-93EEC52A4DAB}" type="parTrans" cxnId="{C4B8C06D-3A41-4C91-AD26-8F8A34DE0E15}">
      <dgm:prSet/>
      <dgm:spPr/>
      <dgm:t>
        <a:bodyPr/>
        <a:lstStyle/>
        <a:p>
          <a:endParaRPr lang="en-IN"/>
        </a:p>
      </dgm:t>
    </dgm:pt>
    <dgm:pt modelId="{5060E046-FF1A-4993-A610-4F066E53A060}" type="sibTrans" cxnId="{C4B8C06D-3A41-4C91-AD26-8F8A34DE0E15}">
      <dgm:prSet/>
      <dgm:spPr/>
      <dgm:t>
        <a:bodyPr/>
        <a:lstStyle/>
        <a:p>
          <a:endParaRPr lang="en-IN"/>
        </a:p>
      </dgm:t>
    </dgm:pt>
    <dgm:pt modelId="{8F2122A6-47C5-4691-92C8-D448D8210361}">
      <dgm:prSet phldrT="[Text]"/>
      <dgm:spPr/>
      <dgm:t>
        <a:bodyPr/>
        <a:lstStyle/>
        <a:p>
          <a:pPr>
            <a:buChar char="●"/>
          </a:pPr>
          <a:r>
            <a:rPr lang="en-US">
              <a:latin typeface="Arial MT"/>
              <a:cs typeface="Arial MT"/>
            </a:rPr>
            <a:t>Accepts</a:t>
          </a:r>
          <a:r>
            <a:rPr lang="en-US" spc="-35">
              <a:latin typeface="Arial MT"/>
              <a:cs typeface="Arial MT"/>
            </a:rPr>
            <a:t> </a:t>
          </a:r>
          <a:r>
            <a:rPr lang="en-US" b="1">
              <a:latin typeface="Arial"/>
              <a:cs typeface="Arial"/>
            </a:rPr>
            <a:t>news</a:t>
          </a:r>
          <a:r>
            <a:rPr lang="en-US" b="1" spc="-40">
              <a:latin typeface="Arial"/>
              <a:cs typeface="Arial"/>
            </a:rPr>
            <a:t> </a:t>
          </a:r>
          <a:r>
            <a:rPr lang="en-US" b="1">
              <a:latin typeface="Arial"/>
              <a:cs typeface="Arial"/>
            </a:rPr>
            <a:t>text</a:t>
          </a:r>
          <a:r>
            <a:rPr lang="en-US" b="1" spc="-15">
              <a:latin typeface="Arial"/>
              <a:cs typeface="Arial"/>
            </a:rPr>
            <a:t> </a:t>
          </a:r>
          <a:r>
            <a:rPr lang="en-US" b="1">
              <a:latin typeface="Arial"/>
              <a:cs typeface="Arial"/>
            </a:rPr>
            <a:t>and</a:t>
          </a:r>
          <a:r>
            <a:rPr lang="en-US" b="1" spc="-25">
              <a:latin typeface="Arial"/>
              <a:cs typeface="Arial"/>
            </a:rPr>
            <a:t> </a:t>
          </a:r>
          <a:r>
            <a:rPr lang="en-US" b="1">
              <a:latin typeface="Arial"/>
              <a:cs typeface="Arial"/>
            </a:rPr>
            <a:t>images</a:t>
          </a:r>
          <a:r>
            <a:rPr lang="en-US" b="1" spc="-5">
              <a:latin typeface="Arial"/>
              <a:cs typeface="Arial"/>
            </a:rPr>
            <a:t> </a:t>
          </a:r>
          <a:r>
            <a:rPr lang="en-US">
              <a:latin typeface="Arial MT"/>
              <a:cs typeface="Arial MT"/>
            </a:rPr>
            <a:t>as</a:t>
          </a:r>
          <a:r>
            <a:rPr lang="en-US" spc="20">
              <a:latin typeface="Arial MT"/>
              <a:cs typeface="Arial MT"/>
            </a:rPr>
            <a:t> </a:t>
          </a:r>
          <a:r>
            <a:rPr lang="en-US" spc="-10">
              <a:latin typeface="Arial MT"/>
              <a:cs typeface="Arial MT"/>
            </a:rPr>
            <a:t>input.</a:t>
          </a:r>
          <a:endParaRPr lang="en-IN"/>
        </a:p>
      </dgm:t>
    </dgm:pt>
    <dgm:pt modelId="{9C50D694-63DE-4045-9F67-F0AAE27AAD3B}" type="parTrans" cxnId="{4E20C738-C146-41F0-8A5F-7C17F79BDD17}">
      <dgm:prSet/>
      <dgm:spPr/>
      <dgm:t>
        <a:bodyPr/>
        <a:lstStyle/>
        <a:p>
          <a:endParaRPr lang="en-IN"/>
        </a:p>
      </dgm:t>
    </dgm:pt>
    <dgm:pt modelId="{132173C4-7DFC-405D-BECC-45451EE730FD}" type="sibTrans" cxnId="{4E20C738-C146-41F0-8A5F-7C17F79BDD17}">
      <dgm:prSet/>
      <dgm:spPr/>
      <dgm:t>
        <a:bodyPr/>
        <a:lstStyle/>
        <a:p>
          <a:endParaRPr lang="en-IN"/>
        </a:p>
      </dgm:t>
    </dgm:pt>
    <dgm:pt modelId="{FA0CF02A-57F6-4239-AAA1-E15AF3EB421F}">
      <dgm:prSet phldrT="[Text]"/>
      <dgm:spPr/>
      <dgm:t>
        <a:bodyPr/>
        <a:lstStyle/>
        <a:p>
          <a:r>
            <a:rPr lang="en-US">
              <a:latin typeface="Arial"/>
              <a:cs typeface="Arial"/>
            </a:rPr>
            <a:t>2.Knowledge</a:t>
          </a:r>
          <a:r>
            <a:rPr lang="en-US" spc="-65">
              <a:latin typeface="Arial"/>
              <a:cs typeface="Arial"/>
            </a:rPr>
            <a:t> </a:t>
          </a:r>
          <a:r>
            <a:rPr lang="en-US" spc="-10">
              <a:latin typeface="Arial"/>
              <a:cs typeface="Arial"/>
            </a:rPr>
            <a:t>Graph </a:t>
          </a:r>
          <a:r>
            <a:rPr lang="en-US">
              <a:latin typeface="Arial"/>
              <a:cs typeface="Arial"/>
            </a:rPr>
            <a:t>&amp;</a:t>
          </a:r>
          <a:r>
            <a:rPr lang="en-US" spc="5">
              <a:latin typeface="Arial"/>
              <a:cs typeface="Arial"/>
            </a:rPr>
            <a:t> </a:t>
          </a:r>
          <a:r>
            <a:rPr lang="en-US">
              <a:latin typeface="Arial"/>
              <a:cs typeface="Arial"/>
            </a:rPr>
            <a:t>GAT</a:t>
          </a:r>
          <a:r>
            <a:rPr lang="en-US" spc="-60">
              <a:latin typeface="Arial"/>
              <a:cs typeface="Arial"/>
            </a:rPr>
            <a:t> </a:t>
          </a:r>
          <a:r>
            <a:rPr lang="en-US" spc="-10">
              <a:latin typeface="Arial"/>
              <a:cs typeface="Arial"/>
            </a:rPr>
            <a:t>Analysis</a:t>
          </a:r>
          <a:endParaRPr lang="en-IN"/>
        </a:p>
      </dgm:t>
    </dgm:pt>
    <dgm:pt modelId="{E2C988B8-790E-4C41-AC18-957E79EE85D6}" type="parTrans" cxnId="{9BB77BA6-60AC-4142-B85A-047E75664FC8}">
      <dgm:prSet/>
      <dgm:spPr/>
      <dgm:t>
        <a:bodyPr/>
        <a:lstStyle/>
        <a:p>
          <a:endParaRPr lang="en-IN"/>
        </a:p>
      </dgm:t>
    </dgm:pt>
    <dgm:pt modelId="{5CFCA3B9-B41D-4A60-BD7F-C87465520CAC}" type="sibTrans" cxnId="{9BB77BA6-60AC-4142-B85A-047E75664FC8}">
      <dgm:prSet/>
      <dgm:spPr/>
      <dgm:t>
        <a:bodyPr/>
        <a:lstStyle/>
        <a:p>
          <a:endParaRPr lang="en-IN"/>
        </a:p>
      </dgm:t>
    </dgm:pt>
    <dgm:pt modelId="{6BB59F9B-36EA-44FB-9AB7-2D4E769E23BB}">
      <dgm:prSet phldrT="[Text]"/>
      <dgm:spPr/>
      <dgm:t>
        <a:bodyPr/>
        <a:lstStyle/>
        <a:p>
          <a:pPr>
            <a:buChar char="●"/>
          </a:pPr>
          <a:r>
            <a:rPr lang="en-US"/>
            <a:t>Extracts</a:t>
          </a:r>
          <a:r>
            <a:rPr lang="en-US" spc="-50"/>
            <a:t> </a:t>
          </a:r>
          <a:r>
            <a:rPr lang="en-US"/>
            <a:t>entities</a:t>
          </a:r>
          <a:r>
            <a:rPr lang="en-US" spc="-50"/>
            <a:t> </a:t>
          </a:r>
          <a:r>
            <a:rPr lang="en-US"/>
            <a:t>and</a:t>
          </a:r>
          <a:r>
            <a:rPr lang="en-US" spc="-45"/>
            <a:t> </a:t>
          </a:r>
          <a:r>
            <a:rPr lang="en-US"/>
            <a:t>constructs</a:t>
          </a:r>
          <a:r>
            <a:rPr lang="en-US" spc="20"/>
            <a:t> </a:t>
          </a:r>
          <a:r>
            <a:rPr lang="en-US"/>
            <a:t>a</a:t>
          </a:r>
          <a:r>
            <a:rPr lang="en-US" spc="-45"/>
            <a:t> </a:t>
          </a:r>
          <a:r>
            <a:rPr lang="en-US" b="1">
              <a:latin typeface="Arial"/>
              <a:cs typeface="Arial"/>
            </a:rPr>
            <a:t>Knowledge</a:t>
          </a:r>
          <a:r>
            <a:rPr lang="en-US" b="1" spc="-40">
              <a:latin typeface="Arial"/>
              <a:cs typeface="Arial"/>
            </a:rPr>
            <a:t> </a:t>
          </a:r>
          <a:r>
            <a:rPr lang="en-US" b="1" spc="-10">
              <a:latin typeface="Arial"/>
              <a:cs typeface="Arial"/>
            </a:rPr>
            <a:t>Graph</a:t>
          </a:r>
          <a:r>
            <a:rPr lang="en-US" spc="-10"/>
            <a:t>.</a:t>
          </a:r>
          <a:endParaRPr lang="en-IN"/>
        </a:p>
      </dgm:t>
    </dgm:pt>
    <dgm:pt modelId="{5F3B3547-E916-4FB5-993E-FEFA30887E51}" type="parTrans" cxnId="{9B214406-6BDF-4773-9675-81FB87C34A91}">
      <dgm:prSet/>
      <dgm:spPr/>
      <dgm:t>
        <a:bodyPr/>
        <a:lstStyle/>
        <a:p>
          <a:endParaRPr lang="en-IN"/>
        </a:p>
      </dgm:t>
    </dgm:pt>
    <dgm:pt modelId="{65856871-1F15-45E6-8EC0-F6BA0461DA38}" type="sibTrans" cxnId="{9B214406-6BDF-4773-9675-81FB87C34A91}">
      <dgm:prSet/>
      <dgm:spPr/>
      <dgm:t>
        <a:bodyPr/>
        <a:lstStyle/>
        <a:p>
          <a:endParaRPr lang="en-IN"/>
        </a:p>
      </dgm:t>
    </dgm:pt>
    <dgm:pt modelId="{C41612E6-45CD-4496-AEA1-C38BF45B67FB}">
      <dgm:prSet phldrT="[Text]"/>
      <dgm:spPr/>
      <dgm:t>
        <a:bodyPr/>
        <a:lstStyle/>
        <a:p>
          <a:r>
            <a:rPr lang="en-IN" spc="-10">
              <a:latin typeface="Arial "/>
              <a:cs typeface="Arial MT"/>
            </a:rPr>
            <a:t>3.RAG-</a:t>
          </a:r>
          <a:r>
            <a:rPr lang="en-IN" spc="-20">
              <a:latin typeface="Arial "/>
              <a:cs typeface="Arial MT"/>
            </a:rPr>
            <a:t>Based </a:t>
          </a:r>
          <a:r>
            <a:rPr lang="en-IN">
              <a:latin typeface="Arial "/>
              <a:cs typeface="Arial MT"/>
            </a:rPr>
            <a:t>Evidence</a:t>
          </a:r>
          <a:r>
            <a:rPr lang="en-IN" spc="-30">
              <a:latin typeface="Arial "/>
              <a:cs typeface="Arial MT"/>
            </a:rPr>
            <a:t> </a:t>
          </a:r>
          <a:r>
            <a:rPr lang="en-IN" spc="-10">
              <a:latin typeface="Arial "/>
              <a:cs typeface="Arial MT"/>
            </a:rPr>
            <a:t>Retrieval</a:t>
          </a:r>
          <a:endParaRPr lang="en-IN"/>
        </a:p>
      </dgm:t>
    </dgm:pt>
    <dgm:pt modelId="{3015A2EF-7D88-4AC2-9C2A-AF0CB31F0CA9}" type="parTrans" cxnId="{2F60FFD8-00DE-4F9A-9689-4F0675431B43}">
      <dgm:prSet/>
      <dgm:spPr/>
      <dgm:t>
        <a:bodyPr/>
        <a:lstStyle/>
        <a:p>
          <a:endParaRPr lang="en-IN"/>
        </a:p>
      </dgm:t>
    </dgm:pt>
    <dgm:pt modelId="{1305A685-FB90-435A-8DF2-A8F474EAD591}" type="sibTrans" cxnId="{2F60FFD8-00DE-4F9A-9689-4F0675431B43}">
      <dgm:prSet/>
      <dgm:spPr/>
      <dgm:t>
        <a:bodyPr/>
        <a:lstStyle/>
        <a:p>
          <a:endParaRPr lang="en-IN"/>
        </a:p>
      </dgm:t>
    </dgm:pt>
    <dgm:pt modelId="{A4CA4296-4159-4B75-AA14-93742C854B8C}">
      <dgm:prSet phldrT="[Text]"/>
      <dgm:spPr/>
      <dgm:t>
        <a:bodyPr/>
        <a:lstStyle/>
        <a:p>
          <a:pPr>
            <a:buChar char="●"/>
          </a:pPr>
          <a:r>
            <a:rPr lang="en-US"/>
            <a:t>Retrieves</a:t>
          </a:r>
          <a:r>
            <a:rPr lang="en-US" spc="-55"/>
            <a:t> </a:t>
          </a:r>
          <a:r>
            <a:rPr lang="en-US"/>
            <a:t>relevant</a:t>
          </a:r>
          <a:r>
            <a:rPr lang="en-US" spc="-25"/>
            <a:t> </a:t>
          </a:r>
          <a:r>
            <a:rPr lang="en-US"/>
            <a:t>evidence</a:t>
          </a:r>
          <a:r>
            <a:rPr lang="en-US" spc="-40"/>
            <a:t> </a:t>
          </a:r>
          <a:r>
            <a:rPr lang="en-US"/>
            <a:t>from</a:t>
          </a:r>
          <a:r>
            <a:rPr lang="en-US" spc="-25"/>
            <a:t> </a:t>
          </a:r>
          <a:r>
            <a:rPr lang="en-US" b="1">
              <a:latin typeface="Arial"/>
              <a:cs typeface="Arial"/>
            </a:rPr>
            <a:t>trusted</a:t>
          </a:r>
          <a:r>
            <a:rPr lang="en-US" b="1" spc="-25">
              <a:latin typeface="Arial"/>
              <a:cs typeface="Arial"/>
            </a:rPr>
            <a:t> </a:t>
          </a:r>
          <a:r>
            <a:rPr lang="en-US" b="1">
              <a:latin typeface="Arial"/>
              <a:cs typeface="Arial"/>
            </a:rPr>
            <a:t>sources</a:t>
          </a:r>
          <a:r>
            <a:rPr lang="en-US" b="1" spc="-35">
              <a:latin typeface="Arial"/>
              <a:cs typeface="Arial"/>
            </a:rPr>
            <a:t> </a:t>
          </a:r>
          <a:r>
            <a:rPr lang="en-US"/>
            <a:t>using</a:t>
          </a:r>
          <a:r>
            <a:rPr lang="en-US" spc="-25"/>
            <a:t> </a:t>
          </a:r>
          <a:r>
            <a:rPr lang="en-US" b="1" spc="-10">
              <a:latin typeface="Arial"/>
              <a:cs typeface="Arial"/>
            </a:rPr>
            <a:t>FAISS </a:t>
          </a:r>
          <a:r>
            <a:rPr lang="en-US" b="1">
              <a:latin typeface="Arial"/>
              <a:cs typeface="Arial"/>
            </a:rPr>
            <a:t>Vector</a:t>
          </a:r>
          <a:r>
            <a:rPr lang="en-US" b="1" spc="-25">
              <a:latin typeface="Arial"/>
              <a:cs typeface="Arial"/>
            </a:rPr>
            <a:t> </a:t>
          </a:r>
          <a:r>
            <a:rPr lang="en-US" b="1">
              <a:latin typeface="Arial"/>
              <a:cs typeface="Arial"/>
            </a:rPr>
            <a:t>Database</a:t>
          </a:r>
          <a:r>
            <a:rPr lang="en-US" b="1" spc="-40">
              <a:latin typeface="Arial"/>
              <a:cs typeface="Arial"/>
            </a:rPr>
            <a:t> </a:t>
          </a:r>
          <a:r>
            <a:rPr lang="en-US"/>
            <a:t>and</a:t>
          </a:r>
          <a:r>
            <a:rPr lang="en-US" spc="-20"/>
            <a:t> </a:t>
          </a:r>
          <a:r>
            <a:rPr lang="en-US" b="1" spc="-20">
              <a:latin typeface="Arial"/>
              <a:cs typeface="Arial"/>
            </a:rPr>
            <a:t>RAG</a:t>
          </a:r>
          <a:r>
            <a:rPr lang="en-US" spc="-20"/>
            <a:t>.</a:t>
          </a:r>
          <a:endParaRPr lang="en-IN"/>
        </a:p>
      </dgm:t>
    </dgm:pt>
    <dgm:pt modelId="{A55FF548-ABFE-466C-9DB5-4ACDFCC2CA4C}" type="parTrans" cxnId="{F89AEA24-90C9-4153-A46C-C9869EEF0B35}">
      <dgm:prSet/>
      <dgm:spPr/>
      <dgm:t>
        <a:bodyPr/>
        <a:lstStyle/>
        <a:p>
          <a:endParaRPr lang="en-IN"/>
        </a:p>
      </dgm:t>
    </dgm:pt>
    <dgm:pt modelId="{BFF824E2-5BFF-4C4B-8475-55D16154AC41}" type="sibTrans" cxnId="{F89AEA24-90C9-4153-A46C-C9869EEF0B35}">
      <dgm:prSet/>
      <dgm:spPr/>
      <dgm:t>
        <a:bodyPr/>
        <a:lstStyle/>
        <a:p>
          <a:endParaRPr lang="en-IN"/>
        </a:p>
      </dgm:t>
    </dgm:pt>
    <dgm:pt modelId="{C79884BC-18AC-43DE-B8F2-631E53AD2410}">
      <dgm:prSet phldrT="[Text]"/>
      <dgm:spPr/>
      <dgm:t>
        <a:bodyPr/>
        <a:lstStyle/>
        <a:p>
          <a:pPr>
            <a:buChar char="●"/>
          </a:pPr>
          <a:r>
            <a:rPr lang="en-US">
              <a:latin typeface="Arial MT"/>
              <a:cs typeface="Arial MT"/>
            </a:rPr>
            <a:t>The</a:t>
          </a:r>
          <a:r>
            <a:rPr lang="en-US" spc="-15">
              <a:latin typeface="Arial MT"/>
              <a:cs typeface="Arial MT"/>
            </a:rPr>
            <a:t> </a:t>
          </a:r>
          <a:r>
            <a:rPr lang="en-US" b="1">
              <a:latin typeface="Arial"/>
              <a:cs typeface="Arial"/>
            </a:rPr>
            <a:t>LLM</a:t>
          </a:r>
          <a:r>
            <a:rPr lang="en-US" b="1" spc="-30">
              <a:latin typeface="Arial"/>
              <a:cs typeface="Arial"/>
            </a:rPr>
            <a:t> </a:t>
          </a:r>
          <a:r>
            <a:rPr lang="en-US">
              <a:latin typeface="Arial MT"/>
              <a:cs typeface="Arial MT"/>
            </a:rPr>
            <a:t>combines</a:t>
          </a:r>
          <a:r>
            <a:rPr lang="en-US" spc="-50">
              <a:latin typeface="Arial MT"/>
              <a:cs typeface="Arial MT"/>
            </a:rPr>
            <a:t> </a:t>
          </a:r>
          <a:r>
            <a:rPr lang="en-US">
              <a:latin typeface="Arial MT"/>
              <a:cs typeface="Arial MT"/>
            </a:rPr>
            <a:t>graph</a:t>
          </a:r>
          <a:r>
            <a:rPr lang="en-US" spc="-35">
              <a:latin typeface="Arial MT"/>
              <a:cs typeface="Arial MT"/>
            </a:rPr>
            <a:t> </a:t>
          </a:r>
          <a:r>
            <a:rPr lang="en-US">
              <a:latin typeface="Arial MT"/>
              <a:cs typeface="Arial MT"/>
            </a:rPr>
            <a:t>insights</a:t>
          </a:r>
          <a:r>
            <a:rPr lang="en-US" spc="-50">
              <a:latin typeface="Arial MT"/>
              <a:cs typeface="Arial MT"/>
            </a:rPr>
            <a:t> </a:t>
          </a:r>
          <a:r>
            <a:rPr lang="en-US">
              <a:latin typeface="Arial MT"/>
              <a:cs typeface="Arial MT"/>
            </a:rPr>
            <a:t>with</a:t>
          </a:r>
          <a:r>
            <a:rPr lang="en-US" spc="-35">
              <a:latin typeface="Arial MT"/>
              <a:cs typeface="Arial MT"/>
            </a:rPr>
            <a:t> </a:t>
          </a:r>
          <a:r>
            <a:rPr lang="en-US">
              <a:latin typeface="Arial MT"/>
              <a:cs typeface="Arial MT"/>
            </a:rPr>
            <a:t>retrieved</a:t>
          </a:r>
          <a:r>
            <a:rPr lang="en-US" spc="-40">
              <a:latin typeface="Arial MT"/>
              <a:cs typeface="Arial MT"/>
            </a:rPr>
            <a:t> </a:t>
          </a:r>
          <a:r>
            <a:rPr lang="en-US" spc="-10">
              <a:latin typeface="Arial MT"/>
              <a:cs typeface="Arial MT"/>
            </a:rPr>
            <a:t>evidence.</a:t>
          </a:r>
          <a:endParaRPr lang="en-IN"/>
        </a:p>
      </dgm:t>
    </dgm:pt>
    <dgm:pt modelId="{E579470E-5DF2-4B2B-8467-9FFC6ECE3229}" type="parTrans" cxnId="{125B14AD-F5D9-4B21-9CA6-F24C63042457}">
      <dgm:prSet/>
      <dgm:spPr/>
      <dgm:t>
        <a:bodyPr/>
        <a:lstStyle/>
        <a:p>
          <a:endParaRPr lang="en-IN"/>
        </a:p>
      </dgm:t>
    </dgm:pt>
    <dgm:pt modelId="{22D4DF15-5D40-4017-923D-3655E717C281}" type="sibTrans" cxnId="{125B14AD-F5D9-4B21-9CA6-F24C63042457}">
      <dgm:prSet/>
      <dgm:spPr/>
      <dgm:t>
        <a:bodyPr/>
        <a:lstStyle/>
        <a:p>
          <a:endParaRPr lang="en-IN"/>
        </a:p>
      </dgm:t>
    </dgm:pt>
    <dgm:pt modelId="{E183B646-784E-4153-AA3E-B13759A4AB25}">
      <dgm:prSet/>
      <dgm:spPr/>
      <dgm:t>
        <a:bodyPr/>
        <a:lstStyle/>
        <a:p>
          <a:r>
            <a:rPr lang="en-US" spc="-10">
              <a:latin typeface="Arial MT"/>
              <a:cs typeface="Arial MT"/>
            </a:rPr>
            <a:t>Generates</a:t>
          </a:r>
          <a:r>
            <a:rPr lang="en-US" spc="-45">
              <a:latin typeface="Arial MT"/>
              <a:cs typeface="Arial MT"/>
            </a:rPr>
            <a:t> </a:t>
          </a:r>
          <a:r>
            <a:rPr lang="en-US">
              <a:latin typeface="Arial MT"/>
              <a:cs typeface="Arial MT"/>
            </a:rPr>
            <a:t>the</a:t>
          </a:r>
          <a:r>
            <a:rPr lang="en-US" spc="-35">
              <a:latin typeface="Arial MT"/>
              <a:cs typeface="Arial MT"/>
            </a:rPr>
            <a:t> </a:t>
          </a:r>
          <a:r>
            <a:rPr lang="en-US">
              <a:latin typeface="Arial MT"/>
              <a:cs typeface="Arial MT"/>
            </a:rPr>
            <a:t>final</a:t>
          </a:r>
          <a:r>
            <a:rPr lang="en-US" spc="25">
              <a:latin typeface="Arial MT"/>
              <a:cs typeface="Arial MT"/>
            </a:rPr>
            <a:t> </a:t>
          </a:r>
          <a:r>
            <a:rPr lang="en-US" b="1">
              <a:latin typeface="Arial"/>
              <a:cs typeface="Arial"/>
            </a:rPr>
            <a:t>Fake/Real</a:t>
          </a:r>
          <a:r>
            <a:rPr lang="en-US" b="1" spc="-20">
              <a:latin typeface="Arial"/>
              <a:cs typeface="Arial"/>
            </a:rPr>
            <a:t> </a:t>
          </a:r>
          <a:r>
            <a:rPr lang="en-US" b="1">
              <a:latin typeface="Arial"/>
              <a:cs typeface="Arial"/>
            </a:rPr>
            <a:t>prediction</a:t>
          </a:r>
          <a:r>
            <a:rPr lang="en-US">
              <a:latin typeface="Arial MT"/>
              <a:cs typeface="Arial MT"/>
            </a:rPr>
            <a:t>,</a:t>
          </a:r>
          <a:r>
            <a:rPr lang="en-US" spc="-20">
              <a:latin typeface="Arial MT"/>
              <a:cs typeface="Arial MT"/>
            </a:rPr>
            <a:t> </a:t>
          </a:r>
          <a:r>
            <a:rPr lang="en-US" b="1">
              <a:latin typeface="Arial"/>
              <a:cs typeface="Arial"/>
            </a:rPr>
            <a:t>confidence</a:t>
          </a:r>
          <a:r>
            <a:rPr lang="en-US" b="1" spc="45">
              <a:latin typeface="Arial"/>
              <a:cs typeface="Arial"/>
            </a:rPr>
            <a:t> </a:t>
          </a:r>
          <a:r>
            <a:rPr lang="en-US" b="1" spc="-10">
              <a:latin typeface="Arial"/>
              <a:cs typeface="Arial"/>
            </a:rPr>
            <a:t>score</a:t>
          </a:r>
          <a:r>
            <a:rPr lang="en-US" spc="-10">
              <a:latin typeface="Arial MT"/>
              <a:cs typeface="Arial MT"/>
            </a:rPr>
            <a:t>,</a:t>
          </a:r>
          <a:r>
            <a:rPr lang="en-US" spc="-20">
              <a:latin typeface="Arial MT"/>
              <a:cs typeface="Arial MT"/>
            </a:rPr>
            <a:t> </a:t>
          </a:r>
          <a:r>
            <a:rPr lang="en-US" spc="-25">
              <a:latin typeface="Arial MT"/>
              <a:cs typeface="Arial MT"/>
            </a:rPr>
            <a:t>and </a:t>
          </a:r>
          <a:r>
            <a:rPr lang="en-US">
              <a:latin typeface="Arial MT"/>
              <a:cs typeface="Arial MT"/>
            </a:rPr>
            <a:t>an</a:t>
          </a:r>
          <a:r>
            <a:rPr lang="en-US" spc="-10">
              <a:latin typeface="Arial MT"/>
              <a:cs typeface="Arial MT"/>
            </a:rPr>
            <a:t> </a:t>
          </a:r>
          <a:r>
            <a:rPr lang="en-US" b="1">
              <a:latin typeface="Arial"/>
              <a:cs typeface="Arial"/>
            </a:rPr>
            <a:t>explainable</a:t>
          </a:r>
          <a:r>
            <a:rPr lang="en-US" b="1" spc="-25">
              <a:latin typeface="Arial"/>
              <a:cs typeface="Arial"/>
            </a:rPr>
            <a:t> </a:t>
          </a:r>
          <a:r>
            <a:rPr lang="en-US" b="1">
              <a:latin typeface="Arial"/>
              <a:cs typeface="Arial"/>
            </a:rPr>
            <a:t>verification</a:t>
          </a:r>
          <a:r>
            <a:rPr lang="en-US" b="1" spc="-10">
              <a:latin typeface="Arial"/>
              <a:cs typeface="Arial"/>
            </a:rPr>
            <a:t> report</a:t>
          </a:r>
          <a:r>
            <a:rPr lang="en-US" spc="-10">
              <a:latin typeface="Arial MT"/>
              <a:cs typeface="Arial MT"/>
            </a:rPr>
            <a:t>.</a:t>
          </a:r>
          <a:endParaRPr lang="en-US">
            <a:latin typeface="Arial MT"/>
            <a:cs typeface="Arial MT"/>
          </a:endParaRPr>
        </a:p>
      </dgm:t>
    </dgm:pt>
    <dgm:pt modelId="{EBF41558-C77B-4511-8D2B-053AEBDF0E45}" type="parTrans" cxnId="{35A85A4F-FF95-46EC-BC2A-2EF4B0F8C85C}">
      <dgm:prSet/>
      <dgm:spPr/>
      <dgm:t>
        <a:bodyPr/>
        <a:lstStyle/>
        <a:p>
          <a:endParaRPr lang="en-IN"/>
        </a:p>
      </dgm:t>
    </dgm:pt>
    <dgm:pt modelId="{E2374BA4-7540-4980-B0E9-36E1E484B516}" type="sibTrans" cxnId="{35A85A4F-FF95-46EC-BC2A-2EF4B0F8C85C}">
      <dgm:prSet/>
      <dgm:spPr/>
      <dgm:t>
        <a:bodyPr/>
        <a:lstStyle/>
        <a:p>
          <a:endParaRPr lang="en-IN"/>
        </a:p>
      </dgm:t>
    </dgm:pt>
    <dgm:pt modelId="{4523C7E6-E09B-4A54-AECC-DCB99BB94835}">
      <dgm:prSet phldrT="[Text]"/>
      <dgm:spPr/>
      <dgm:t>
        <a:bodyPr/>
        <a:lstStyle/>
        <a:p>
          <a:r>
            <a:rPr lang="en-US">
              <a:latin typeface="Arial "/>
              <a:cs typeface="Arial MT"/>
            </a:rPr>
            <a:t>4.</a:t>
          </a:r>
          <a:r>
            <a:rPr lang="en-US" spc="-10">
              <a:latin typeface="Arial "/>
              <a:cs typeface="Arial MT"/>
            </a:rPr>
            <a:t> </a:t>
          </a:r>
          <a:r>
            <a:rPr lang="en-US">
              <a:latin typeface="Arial "/>
              <a:cs typeface="Arial MT"/>
            </a:rPr>
            <a:t>LLM</a:t>
          </a:r>
          <a:r>
            <a:rPr lang="en-US" spc="-35">
              <a:latin typeface="Arial "/>
              <a:cs typeface="Arial MT"/>
            </a:rPr>
            <a:t> </a:t>
          </a:r>
          <a:r>
            <a:rPr lang="en-US">
              <a:latin typeface="Arial "/>
              <a:cs typeface="Arial MT"/>
            </a:rPr>
            <a:t>Verification</a:t>
          </a:r>
          <a:r>
            <a:rPr lang="en-US" spc="-85">
              <a:latin typeface="Arial "/>
              <a:cs typeface="Arial MT"/>
            </a:rPr>
            <a:t> </a:t>
          </a:r>
          <a:r>
            <a:rPr lang="en-US" spc="-60">
              <a:latin typeface="Arial "/>
              <a:cs typeface="Arial MT"/>
            </a:rPr>
            <a:t>&amp; </a:t>
          </a:r>
          <a:r>
            <a:rPr lang="en-US">
              <a:latin typeface="Arial "/>
              <a:cs typeface="Arial MT"/>
            </a:rPr>
            <a:t>Explainable</a:t>
          </a:r>
          <a:r>
            <a:rPr lang="en-US" spc="-20">
              <a:latin typeface="Arial "/>
              <a:cs typeface="Arial MT"/>
            </a:rPr>
            <a:t> </a:t>
          </a:r>
          <a:r>
            <a:rPr lang="en-US" spc="-10">
              <a:latin typeface="Arial "/>
              <a:cs typeface="Arial MT"/>
            </a:rPr>
            <a:t>Output</a:t>
          </a:r>
          <a:endParaRPr lang="en-IN"/>
        </a:p>
      </dgm:t>
    </dgm:pt>
    <dgm:pt modelId="{461DE184-622F-4AD6-97B5-77F05B9A478F}" type="parTrans" cxnId="{1A878D57-43D2-4359-8A95-F63B0129216B}">
      <dgm:prSet/>
      <dgm:spPr/>
      <dgm:t>
        <a:bodyPr/>
        <a:lstStyle/>
        <a:p>
          <a:endParaRPr lang="en-IN"/>
        </a:p>
      </dgm:t>
    </dgm:pt>
    <dgm:pt modelId="{6DC0C8DA-FAC2-4B79-AFBB-04FE5A0D5D71}" type="sibTrans" cxnId="{1A878D57-43D2-4359-8A95-F63B0129216B}">
      <dgm:prSet/>
      <dgm:spPr/>
      <dgm:t>
        <a:bodyPr/>
        <a:lstStyle/>
        <a:p>
          <a:endParaRPr lang="en-IN"/>
        </a:p>
      </dgm:t>
    </dgm:pt>
    <dgm:pt modelId="{032C721C-167D-4B82-8117-3F0B30EB55D9}">
      <dgm:prSet/>
      <dgm:spPr/>
      <dgm:t>
        <a:bodyPr/>
        <a:lstStyle/>
        <a:p>
          <a:r>
            <a:rPr lang="en-US"/>
            <a:t>Provides</a:t>
          </a:r>
          <a:r>
            <a:rPr lang="en-US" spc="-45"/>
            <a:t> </a:t>
          </a:r>
          <a:r>
            <a:rPr lang="en-US"/>
            <a:t>factual</a:t>
          </a:r>
          <a:r>
            <a:rPr lang="en-US" spc="-30"/>
            <a:t> </a:t>
          </a:r>
          <a:r>
            <a:rPr lang="en-US"/>
            <a:t>context</a:t>
          </a:r>
          <a:r>
            <a:rPr lang="en-US" spc="-20"/>
            <a:t> </a:t>
          </a:r>
          <a:r>
            <a:rPr lang="en-US"/>
            <a:t>to</a:t>
          </a:r>
          <a:r>
            <a:rPr lang="en-US" spc="-30"/>
            <a:t> </a:t>
          </a:r>
          <a:r>
            <a:rPr lang="en-US"/>
            <a:t>support</a:t>
          </a:r>
          <a:r>
            <a:rPr lang="en-US" spc="-15"/>
            <a:t> </a:t>
          </a:r>
          <a:r>
            <a:rPr lang="en-US"/>
            <a:t>or</a:t>
          </a:r>
          <a:r>
            <a:rPr lang="en-US" spc="-10"/>
            <a:t> contradict</a:t>
          </a:r>
          <a:r>
            <a:rPr lang="en-US" spc="-15"/>
            <a:t> </a:t>
          </a:r>
          <a:r>
            <a:rPr lang="en-US"/>
            <a:t>the</a:t>
          </a:r>
          <a:r>
            <a:rPr lang="en-US" spc="-30"/>
            <a:t> </a:t>
          </a:r>
          <a:r>
            <a:rPr lang="en-US"/>
            <a:t>news</a:t>
          </a:r>
          <a:r>
            <a:rPr lang="en-US" spc="25"/>
            <a:t> </a:t>
          </a:r>
          <a:r>
            <a:rPr lang="en-US" spc="-10"/>
            <a:t>claim.</a:t>
          </a:r>
        </a:p>
      </dgm:t>
    </dgm:pt>
    <dgm:pt modelId="{9DF435A6-50AA-47DA-BC90-F4F74FAE4A18}" type="parTrans" cxnId="{5266D847-57FD-4037-BBFA-76516EC8F3B2}">
      <dgm:prSet/>
      <dgm:spPr/>
      <dgm:t>
        <a:bodyPr/>
        <a:lstStyle/>
        <a:p>
          <a:endParaRPr lang="en-IN"/>
        </a:p>
      </dgm:t>
    </dgm:pt>
    <dgm:pt modelId="{6AAF5AA8-0B67-4A43-B91F-0C72D6675D34}" type="sibTrans" cxnId="{5266D847-57FD-4037-BBFA-76516EC8F3B2}">
      <dgm:prSet/>
      <dgm:spPr/>
      <dgm:t>
        <a:bodyPr/>
        <a:lstStyle/>
        <a:p>
          <a:endParaRPr lang="en-IN"/>
        </a:p>
      </dgm:t>
    </dgm:pt>
    <dgm:pt modelId="{4B1B75D8-3F67-4ECC-8C6F-9137715E8292}">
      <dgm:prSet/>
      <dgm:spPr/>
      <dgm:t>
        <a:bodyPr/>
        <a:lstStyle/>
        <a:p>
          <a:r>
            <a:rPr lang="en-US"/>
            <a:t>A</a:t>
          </a:r>
          <a:r>
            <a:rPr lang="en-US" spc="-25"/>
            <a:t> </a:t>
          </a:r>
          <a:r>
            <a:rPr lang="en-US" b="1">
              <a:latin typeface="Arial"/>
              <a:cs typeface="Arial"/>
            </a:rPr>
            <a:t>Graph</a:t>
          </a:r>
          <a:r>
            <a:rPr lang="en-US" b="1" spc="-15">
              <a:latin typeface="Arial"/>
              <a:cs typeface="Arial"/>
            </a:rPr>
            <a:t> </a:t>
          </a:r>
          <a:r>
            <a:rPr lang="en-US" b="1">
              <a:latin typeface="Arial"/>
              <a:cs typeface="Arial"/>
            </a:rPr>
            <a:t>Attention</a:t>
          </a:r>
          <a:r>
            <a:rPr lang="en-US" b="1" spc="-15">
              <a:latin typeface="Arial"/>
              <a:cs typeface="Arial"/>
            </a:rPr>
            <a:t> </a:t>
          </a:r>
          <a:r>
            <a:rPr lang="en-US" b="1" spc="-10">
              <a:latin typeface="Arial"/>
              <a:cs typeface="Arial"/>
            </a:rPr>
            <a:t>Network</a:t>
          </a:r>
          <a:r>
            <a:rPr lang="en-US" b="1" spc="-30">
              <a:latin typeface="Arial"/>
              <a:cs typeface="Arial"/>
            </a:rPr>
            <a:t> </a:t>
          </a:r>
          <a:r>
            <a:rPr lang="en-US" b="1">
              <a:latin typeface="Arial"/>
              <a:cs typeface="Arial"/>
            </a:rPr>
            <a:t>(GAT)</a:t>
          </a:r>
          <a:r>
            <a:rPr lang="en-US" b="1" spc="-25">
              <a:latin typeface="Arial"/>
              <a:cs typeface="Arial"/>
            </a:rPr>
            <a:t> </a:t>
          </a:r>
          <a:r>
            <a:rPr lang="en-US"/>
            <a:t>learns</a:t>
          </a:r>
          <a:r>
            <a:rPr lang="en-US" spc="-40"/>
            <a:t> </a:t>
          </a:r>
          <a:r>
            <a:rPr lang="en-US"/>
            <a:t>semantic</a:t>
          </a:r>
          <a:r>
            <a:rPr lang="en-US" spc="30"/>
            <a:t> </a:t>
          </a:r>
          <a:r>
            <a:rPr lang="en-US" spc="-10"/>
            <a:t>relationships </a:t>
          </a:r>
          <a:r>
            <a:rPr lang="en-US"/>
            <a:t>between</a:t>
          </a:r>
          <a:r>
            <a:rPr lang="en-US" spc="10"/>
            <a:t> </a:t>
          </a:r>
          <a:r>
            <a:rPr lang="en-US"/>
            <a:t>nodes to</a:t>
          </a:r>
          <a:r>
            <a:rPr lang="en-US" spc="-60"/>
            <a:t> </a:t>
          </a:r>
          <a:r>
            <a:rPr lang="en-US"/>
            <a:t>predict</a:t>
          </a:r>
          <a:r>
            <a:rPr lang="en-US" spc="-40"/>
            <a:t> </a:t>
          </a:r>
          <a:r>
            <a:rPr lang="en-US"/>
            <a:t>news</a:t>
          </a:r>
          <a:r>
            <a:rPr lang="en-US" spc="-65"/>
            <a:t> </a:t>
          </a:r>
          <a:r>
            <a:rPr lang="en-US" spc="-10"/>
            <a:t>credibility.</a:t>
          </a:r>
        </a:p>
      </dgm:t>
    </dgm:pt>
    <dgm:pt modelId="{1E8807DB-729A-455F-B9AE-B88314C2F2A1}" type="parTrans" cxnId="{E644F16B-7D84-43B4-ABE6-982BE60C0570}">
      <dgm:prSet/>
      <dgm:spPr/>
      <dgm:t>
        <a:bodyPr/>
        <a:lstStyle/>
        <a:p>
          <a:endParaRPr lang="en-IN"/>
        </a:p>
      </dgm:t>
    </dgm:pt>
    <dgm:pt modelId="{77FA9056-FC49-4976-B9B4-3B7A4903041F}" type="sibTrans" cxnId="{E644F16B-7D84-43B4-ABE6-982BE60C0570}">
      <dgm:prSet/>
      <dgm:spPr/>
      <dgm:t>
        <a:bodyPr/>
        <a:lstStyle/>
        <a:p>
          <a:endParaRPr lang="en-IN"/>
        </a:p>
      </dgm:t>
    </dgm:pt>
    <dgm:pt modelId="{D93C3EFB-9658-4618-9B61-A23BB6E3EDD1}">
      <dgm:prSet/>
      <dgm:spPr/>
      <dgm:t>
        <a:bodyPr/>
        <a:lstStyle/>
        <a:p>
          <a:r>
            <a:rPr lang="en-US">
              <a:latin typeface="Arial MT"/>
              <a:cs typeface="Arial MT"/>
            </a:rPr>
            <a:t>Uses</a:t>
          </a:r>
          <a:r>
            <a:rPr lang="en-US" spc="-20">
              <a:latin typeface="Arial MT"/>
              <a:cs typeface="Arial MT"/>
            </a:rPr>
            <a:t> </a:t>
          </a:r>
          <a:r>
            <a:rPr lang="en-US" b="1">
              <a:latin typeface="Arial"/>
              <a:cs typeface="Arial"/>
            </a:rPr>
            <a:t>BERT</a:t>
          </a:r>
          <a:r>
            <a:rPr lang="en-US" b="1" spc="-15">
              <a:latin typeface="Arial"/>
              <a:cs typeface="Arial"/>
            </a:rPr>
            <a:t> </a:t>
          </a:r>
          <a:r>
            <a:rPr lang="en-US">
              <a:latin typeface="Arial MT"/>
              <a:cs typeface="Arial MT"/>
            </a:rPr>
            <a:t>for</a:t>
          </a:r>
          <a:r>
            <a:rPr lang="en-US" spc="-20">
              <a:latin typeface="Arial MT"/>
              <a:cs typeface="Arial MT"/>
            </a:rPr>
            <a:t> </a:t>
          </a:r>
          <a:r>
            <a:rPr lang="en-US">
              <a:latin typeface="Arial MT"/>
              <a:cs typeface="Arial MT"/>
            </a:rPr>
            <a:t>text</a:t>
          </a:r>
          <a:r>
            <a:rPr lang="en-US" spc="-35">
              <a:latin typeface="Arial MT"/>
              <a:cs typeface="Arial MT"/>
            </a:rPr>
            <a:t> </a:t>
          </a:r>
          <a:r>
            <a:rPr lang="en-US">
              <a:latin typeface="Arial MT"/>
              <a:cs typeface="Arial MT"/>
            </a:rPr>
            <a:t>embeddings</a:t>
          </a:r>
          <a:r>
            <a:rPr lang="en-US" spc="20">
              <a:latin typeface="Arial MT"/>
              <a:cs typeface="Arial MT"/>
            </a:rPr>
            <a:t> </a:t>
          </a:r>
          <a:r>
            <a:rPr lang="en-US">
              <a:latin typeface="Arial MT"/>
              <a:cs typeface="Arial MT"/>
            </a:rPr>
            <a:t>and</a:t>
          </a:r>
          <a:r>
            <a:rPr lang="en-US" spc="-45">
              <a:latin typeface="Arial MT"/>
              <a:cs typeface="Arial MT"/>
            </a:rPr>
            <a:t> </a:t>
          </a:r>
          <a:r>
            <a:rPr lang="en-US">
              <a:latin typeface="Arial MT"/>
              <a:cs typeface="Arial MT"/>
            </a:rPr>
            <a:t>a</a:t>
          </a:r>
          <a:r>
            <a:rPr lang="en-US" spc="-45">
              <a:latin typeface="Arial MT"/>
              <a:cs typeface="Arial MT"/>
            </a:rPr>
            <a:t> </a:t>
          </a:r>
          <a:r>
            <a:rPr lang="en-US" b="1">
              <a:latin typeface="Arial"/>
              <a:cs typeface="Arial"/>
            </a:rPr>
            <a:t>Vision</a:t>
          </a:r>
          <a:r>
            <a:rPr lang="en-US" b="1" spc="-30">
              <a:latin typeface="Arial"/>
              <a:cs typeface="Arial"/>
            </a:rPr>
            <a:t> </a:t>
          </a:r>
          <a:r>
            <a:rPr lang="en-US" b="1">
              <a:latin typeface="Arial"/>
              <a:cs typeface="Arial"/>
            </a:rPr>
            <a:t>Model</a:t>
          </a:r>
          <a:r>
            <a:rPr lang="en-US" b="1" spc="-5">
              <a:latin typeface="Arial"/>
              <a:cs typeface="Arial"/>
            </a:rPr>
            <a:t> </a:t>
          </a:r>
          <a:r>
            <a:rPr lang="en-US">
              <a:latin typeface="Arial MT"/>
              <a:cs typeface="Arial MT"/>
            </a:rPr>
            <a:t>for</a:t>
          </a:r>
          <a:r>
            <a:rPr lang="en-US" spc="-20">
              <a:latin typeface="Arial MT"/>
              <a:cs typeface="Arial MT"/>
            </a:rPr>
            <a:t> </a:t>
          </a:r>
          <a:r>
            <a:rPr lang="en-US" spc="-10">
              <a:latin typeface="Arial MT"/>
              <a:cs typeface="Arial MT"/>
            </a:rPr>
            <a:t>image </a:t>
          </a:r>
          <a:r>
            <a:rPr lang="en-US">
              <a:latin typeface="Arial MT"/>
              <a:cs typeface="Arial MT"/>
            </a:rPr>
            <a:t>feature</a:t>
          </a:r>
          <a:r>
            <a:rPr lang="en-US" spc="-5">
              <a:latin typeface="Arial MT"/>
              <a:cs typeface="Arial MT"/>
            </a:rPr>
            <a:t> </a:t>
          </a:r>
          <a:r>
            <a:rPr lang="en-US" spc="-10">
              <a:latin typeface="Arial MT"/>
              <a:cs typeface="Arial MT"/>
            </a:rPr>
            <a:t>extraction.</a:t>
          </a:r>
          <a:endParaRPr lang="en-US">
            <a:latin typeface="Arial MT"/>
            <a:cs typeface="Arial MT"/>
          </a:endParaRPr>
        </a:p>
      </dgm:t>
    </dgm:pt>
    <dgm:pt modelId="{3016D976-6187-48F2-8745-37FCFD35847E}" type="parTrans" cxnId="{32F541B2-2713-4290-8C79-D4B9C2590C50}">
      <dgm:prSet/>
      <dgm:spPr/>
      <dgm:t>
        <a:bodyPr/>
        <a:lstStyle/>
        <a:p>
          <a:endParaRPr lang="en-IN"/>
        </a:p>
      </dgm:t>
    </dgm:pt>
    <dgm:pt modelId="{D2CD5721-C262-4BA8-B2AC-96C5D4133F4F}" type="sibTrans" cxnId="{32F541B2-2713-4290-8C79-D4B9C2590C50}">
      <dgm:prSet/>
      <dgm:spPr/>
      <dgm:t>
        <a:bodyPr/>
        <a:lstStyle/>
        <a:p>
          <a:endParaRPr lang="en-IN"/>
        </a:p>
      </dgm:t>
    </dgm:pt>
    <dgm:pt modelId="{4BD27A53-0722-4E83-AE5C-58AE12511F93}" type="pres">
      <dgm:prSet presAssocID="{A782E7A6-B41C-4D08-A2C0-02BED9A517BF}" presName="Name0" presStyleCnt="0">
        <dgm:presLayoutVars>
          <dgm:dir/>
          <dgm:animLvl val="lvl"/>
          <dgm:resizeHandles val="exact"/>
        </dgm:presLayoutVars>
      </dgm:prSet>
      <dgm:spPr/>
    </dgm:pt>
    <dgm:pt modelId="{F2B50A47-24F5-4552-9033-A9BAF6B7EE18}" type="pres">
      <dgm:prSet presAssocID="{F68E517D-75A0-4BAC-86A0-74B7CC97CC6C}" presName="linNode" presStyleCnt="0"/>
      <dgm:spPr/>
    </dgm:pt>
    <dgm:pt modelId="{F681B6B0-1E4F-49E7-A370-3E1E0129CDA1}" type="pres">
      <dgm:prSet presAssocID="{F68E517D-75A0-4BAC-86A0-74B7CC97CC6C}" presName="bgOutline" presStyleLbl="fgAcc1" presStyleIdx="0" presStyleCnt="4"/>
      <dgm:spPr/>
    </dgm:pt>
    <dgm:pt modelId="{DB441B4D-F339-43E1-812B-B5364D05E4A4}" type="pres">
      <dgm:prSet presAssocID="{F68E517D-75A0-4BAC-86A0-74B7CC97CC6C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B01E9AF8-A122-4F96-BC85-EB0459035445}" type="pres">
      <dgm:prSet presAssocID="{F68E517D-75A0-4BAC-86A0-74B7CC97CC6C}" presName="descendantText" presStyleLbl="revTx" presStyleIdx="0" presStyleCnt="0">
        <dgm:presLayoutVars>
          <dgm:bulletEnabled/>
        </dgm:presLayoutVars>
      </dgm:prSet>
      <dgm:spPr/>
    </dgm:pt>
    <dgm:pt modelId="{EF57EE61-B97B-4FE6-B1A3-602D4AAB097B}" type="pres">
      <dgm:prSet presAssocID="{5060E046-FF1A-4993-A610-4F066E53A060}" presName="sp" presStyleCnt="0"/>
      <dgm:spPr/>
    </dgm:pt>
    <dgm:pt modelId="{32277C77-10E9-4610-A800-39F1BFC1E885}" type="pres">
      <dgm:prSet presAssocID="{FA0CF02A-57F6-4239-AAA1-E15AF3EB421F}" presName="linNode" presStyleCnt="0"/>
      <dgm:spPr/>
    </dgm:pt>
    <dgm:pt modelId="{83B681AE-CE60-44D5-B312-609829CC0C8A}" type="pres">
      <dgm:prSet presAssocID="{FA0CF02A-57F6-4239-AAA1-E15AF3EB421F}" presName="bgOutline" presStyleLbl="fgAcc1" presStyleIdx="1" presStyleCnt="4"/>
      <dgm:spPr/>
    </dgm:pt>
    <dgm:pt modelId="{DB44DE15-EBE5-4371-A9DC-126752B3FC5F}" type="pres">
      <dgm:prSet presAssocID="{FA0CF02A-57F6-4239-AAA1-E15AF3EB421F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D42F6C3E-BB07-4787-AF7D-ADDD549710C9}" type="pres">
      <dgm:prSet presAssocID="{FA0CF02A-57F6-4239-AAA1-E15AF3EB421F}" presName="descendantText" presStyleLbl="revTx" presStyleIdx="0" presStyleCnt="0">
        <dgm:presLayoutVars>
          <dgm:bulletEnabled/>
        </dgm:presLayoutVars>
      </dgm:prSet>
      <dgm:spPr/>
    </dgm:pt>
    <dgm:pt modelId="{357EAA6F-8A40-43DD-A222-A3A221F663C4}" type="pres">
      <dgm:prSet presAssocID="{5CFCA3B9-B41D-4A60-BD7F-C87465520CAC}" presName="sp" presStyleCnt="0"/>
      <dgm:spPr/>
    </dgm:pt>
    <dgm:pt modelId="{A2670ECB-6883-440D-88EC-1DBE7DDD8222}" type="pres">
      <dgm:prSet presAssocID="{C41612E6-45CD-4496-AEA1-C38BF45B67FB}" presName="linNode" presStyleCnt="0"/>
      <dgm:spPr/>
    </dgm:pt>
    <dgm:pt modelId="{746E01D2-50C3-423E-A795-C799D9634900}" type="pres">
      <dgm:prSet presAssocID="{C41612E6-45CD-4496-AEA1-C38BF45B67FB}" presName="bgOutline" presStyleLbl="fgAcc1" presStyleIdx="2" presStyleCnt="4"/>
      <dgm:spPr/>
    </dgm:pt>
    <dgm:pt modelId="{50E6F389-E908-4301-8D7B-17F79E3D581D}" type="pres">
      <dgm:prSet presAssocID="{C41612E6-45CD-4496-AEA1-C38BF45B67FB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FA6F2AAF-A591-4B37-AFD1-F508305B925B}" type="pres">
      <dgm:prSet presAssocID="{C41612E6-45CD-4496-AEA1-C38BF45B67FB}" presName="descendantText" presStyleLbl="revTx" presStyleIdx="0" presStyleCnt="0">
        <dgm:presLayoutVars>
          <dgm:bulletEnabled/>
        </dgm:presLayoutVars>
      </dgm:prSet>
      <dgm:spPr/>
    </dgm:pt>
    <dgm:pt modelId="{15D22C9C-9B2B-469A-A3D0-1B4CCDFB1F69}" type="pres">
      <dgm:prSet presAssocID="{1305A685-FB90-435A-8DF2-A8F474EAD591}" presName="sp" presStyleCnt="0"/>
      <dgm:spPr/>
    </dgm:pt>
    <dgm:pt modelId="{CC56BC82-BB7B-4C0E-822F-97772A150E01}" type="pres">
      <dgm:prSet presAssocID="{4523C7E6-E09B-4A54-AECC-DCB99BB94835}" presName="linNode" presStyleCnt="0"/>
      <dgm:spPr/>
    </dgm:pt>
    <dgm:pt modelId="{581F3CE4-22AB-4A8E-87C0-14575982811C}" type="pres">
      <dgm:prSet presAssocID="{4523C7E6-E09B-4A54-AECC-DCB99BB94835}" presName="bgOutline" presStyleLbl="fgAcc1" presStyleIdx="3" presStyleCnt="4"/>
      <dgm:spPr/>
    </dgm:pt>
    <dgm:pt modelId="{1DD985EC-2946-40BA-B3FF-28820B9399DE}" type="pres">
      <dgm:prSet presAssocID="{4523C7E6-E09B-4A54-AECC-DCB99BB94835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ACBE3658-6DBE-447A-8EC8-7058E8549540}" type="pres">
      <dgm:prSet presAssocID="{4523C7E6-E09B-4A54-AECC-DCB99BB94835}" presName="descendantText" presStyleLbl="revTx" presStyleIdx="0" presStyleCnt="0">
        <dgm:presLayoutVars>
          <dgm:bulletEnabled/>
        </dgm:presLayoutVars>
      </dgm:prSet>
      <dgm:spPr/>
    </dgm:pt>
  </dgm:ptLst>
  <dgm:cxnLst>
    <dgm:cxn modelId="{9B214406-6BDF-4773-9675-81FB87C34A91}" srcId="{FA0CF02A-57F6-4239-AAA1-E15AF3EB421F}" destId="{6BB59F9B-36EA-44FB-9AB7-2D4E769E23BB}" srcOrd="0" destOrd="0" parTransId="{5F3B3547-E916-4FB5-993E-FEFA30887E51}" sibTransId="{65856871-1F15-45E6-8EC0-F6BA0461DA38}"/>
    <dgm:cxn modelId="{FBAAE011-29BE-4F68-84F9-AC0F23FE613D}" type="presOf" srcId="{D93C3EFB-9658-4618-9B61-A23BB6E3EDD1}" destId="{B01E9AF8-A122-4F96-BC85-EB0459035445}" srcOrd="0" destOrd="1" presId="urn:microsoft.com/office/officeart/2024/layout/VerticalActionList"/>
    <dgm:cxn modelId="{1A245017-D5BF-4910-A244-56CB40209E6F}" type="presOf" srcId="{F68E517D-75A0-4BAC-86A0-74B7CC97CC6C}" destId="{DB441B4D-F339-43E1-812B-B5364D05E4A4}" srcOrd="1" destOrd="0" presId="urn:microsoft.com/office/officeart/2024/layout/VerticalActionList"/>
    <dgm:cxn modelId="{8771101D-CE6F-4769-A271-2202D2580B26}" type="presOf" srcId="{C79884BC-18AC-43DE-B8F2-631E53AD2410}" destId="{ACBE3658-6DBE-447A-8EC8-7058E8549540}" srcOrd="0" destOrd="0" presId="urn:microsoft.com/office/officeart/2024/layout/VerticalActionList"/>
    <dgm:cxn modelId="{2EE30F1E-0D57-4B88-9795-42435F60F8AB}" type="presOf" srcId="{8F2122A6-47C5-4691-92C8-D448D8210361}" destId="{B01E9AF8-A122-4F96-BC85-EB0459035445}" srcOrd="0" destOrd="0" presId="urn:microsoft.com/office/officeart/2024/layout/VerticalActionList"/>
    <dgm:cxn modelId="{F89AEA24-90C9-4153-A46C-C9869EEF0B35}" srcId="{C41612E6-45CD-4496-AEA1-C38BF45B67FB}" destId="{A4CA4296-4159-4B75-AA14-93742C854B8C}" srcOrd="0" destOrd="0" parTransId="{A55FF548-ABFE-466C-9DB5-4ACDFCC2CA4C}" sibTransId="{BFF824E2-5BFF-4C4B-8475-55D16154AC41}"/>
    <dgm:cxn modelId="{ABA79C27-30A5-44AD-BEDD-68C941FA7C23}" type="presOf" srcId="{4B1B75D8-3F67-4ECC-8C6F-9137715E8292}" destId="{D42F6C3E-BB07-4787-AF7D-ADDD549710C9}" srcOrd="0" destOrd="1" presId="urn:microsoft.com/office/officeart/2024/layout/VerticalActionList"/>
    <dgm:cxn modelId="{4E20C738-C146-41F0-8A5F-7C17F79BDD17}" srcId="{F68E517D-75A0-4BAC-86A0-74B7CC97CC6C}" destId="{8F2122A6-47C5-4691-92C8-D448D8210361}" srcOrd="0" destOrd="0" parTransId="{9C50D694-63DE-4045-9F67-F0AAE27AAD3B}" sibTransId="{132173C4-7DFC-405D-BECC-45451EE730FD}"/>
    <dgm:cxn modelId="{64FEB05F-0EF7-43CA-BAB6-CE9F2EFB6542}" type="presOf" srcId="{6BB59F9B-36EA-44FB-9AB7-2D4E769E23BB}" destId="{D42F6C3E-BB07-4787-AF7D-ADDD549710C9}" srcOrd="0" destOrd="0" presId="urn:microsoft.com/office/officeart/2024/layout/VerticalActionList"/>
    <dgm:cxn modelId="{D3DF0964-6B6E-437B-9D72-989EF37AE839}" type="presOf" srcId="{C41612E6-45CD-4496-AEA1-C38BF45B67FB}" destId="{50E6F389-E908-4301-8D7B-17F79E3D581D}" srcOrd="1" destOrd="0" presId="urn:microsoft.com/office/officeart/2024/layout/VerticalActionList"/>
    <dgm:cxn modelId="{5266D847-57FD-4037-BBFA-76516EC8F3B2}" srcId="{C41612E6-45CD-4496-AEA1-C38BF45B67FB}" destId="{032C721C-167D-4B82-8117-3F0B30EB55D9}" srcOrd="1" destOrd="0" parTransId="{9DF435A6-50AA-47DA-BC90-F4F74FAE4A18}" sibTransId="{6AAF5AA8-0B67-4A43-B91F-0C72D6675D34}"/>
    <dgm:cxn modelId="{DA440E4B-385B-4D28-B9DB-A0630B0DC9D4}" type="presOf" srcId="{032C721C-167D-4B82-8117-3F0B30EB55D9}" destId="{FA6F2AAF-A591-4B37-AFD1-F508305B925B}" srcOrd="0" destOrd="1" presId="urn:microsoft.com/office/officeart/2024/layout/VerticalActionList"/>
    <dgm:cxn modelId="{E644F16B-7D84-43B4-ABE6-982BE60C0570}" srcId="{FA0CF02A-57F6-4239-AAA1-E15AF3EB421F}" destId="{4B1B75D8-3F67-4ECC-8C6F-9137715E8292}" srcOrd="1" destOrd="0" parTransId="{1E8807DB-729A-455F-B9AE-B88314C2F2A1}" sibTransId="{77FA9056-FC49-4976-B9B4-3B7A4903041F}"/>
    <dgm:cxn modelId="{C4B8C06D-3A41-4C91-AD26-8F8A34DE0E15}" srcId="{A782E7A6-B41C-4D08-A2C0-02BED9A517BF}" destId="{F68E517D-75A0-4BAC-86A0-74B7CC97CC6C}" srcOrd="0" destOrd="0" parTransId="{B46ED674-8505-4711-BED7-93EEC52A4DAB}" sibTransId="{5060E046-FF1A-4993-A610-4F066E53A060}"/>
    <dgm:cxn modelId="{35A85A4F-FF95-46EC-BC2A-2EF4B0F8C85C}" srcId="{4523C7E6-E09B-4A54-AECC-DCB99BB94835}" destId="{E183B646-784E-4153-AA3E-B13759A4AB25}" srcOrd="1" destOrd="0" parTransId="{EBF41558-C77B-4511-8D2B-053AEBDF0E45}" sibTransId="{E2374BA4-7540-4980-B0E9-36E1E484B516}"/>
    <dgm:cxn modelId="{31815A71-0A11-44F9-A343-62733F4D5B8F}" type="presOf" srcId="{F68E517D-75A0-4BAC-86A0-74B7CC97CC6C}" destId="{F681B6B0-1E4F-49E7-A370-3E1E0129CDA1}" srcOrd="0" destOrd="0" presId="urn:microsoft.com/office/officeart/2024/layout/VerticalActionList"/>
    <dgm:cxn modelId="{1A878D57-43D2-4359-8A95-F63B0129216B}" srcId="{A782E7A6-B41C-4D08-A2C0-02BED9A517BF}" destId="{4523C7E6-E09B-4A54-AECC-DCB99BB94835}" srcOrd="3" destOrd="0" parTransId="{461DE184-622F-4AD6-97B5-77F05B9A478F}" sibTransId="{6DC0C8DA-FAC2-4B79-AFBB-04FE5A0D5D71}"/>
    <dgm:cxn modelId="{5DF33F5A-B3AD-451C-AF3A-83A785CCE7FF}" type="presOf" srcId="{FA0CF02A-57F6-4239-AAA1-E15AF3EB421F}" destId="{DB44DE15-EBE5-4371-A9DC-126752B3FC5F}" srcOrd="1" destOrd="0" presId="urn:microsoft.com/office/officeart/2024/layout/VerticalActionList"/>
    <dgm:cxn modelId="{3AB6EC82-F6AD-4FA5-B1FA-5B17952BA7A4}" type="presOf" srcId="{4523C7E6-E09B-4A54-AECC-DCB99BB94835}" destId="{581F3CE4-22AB-4A8E-87C0-14575982811C}" srcOrd="0" destOrd="0" presId="urn:microsoft.com/office/officeart/2024/layout/VerticalActionList"/>
    <dgm:cxn modelId="{EE57B1A1-1F1D-4E86-A84B-56130161E0D8}" type="presOf" srcId="{FA0CF02A-57F6-4239-AAA1-E15AF3EB421F}" destId="{83B681AE-CE60-44D5-B312-609829CC0C8A}" srcOrd="0" destOrd="0" presId="urn:microsoft.com/office/officeart/2024/layout/VerticalActionList"/>
    <dgm:cxn modelId="{9BB77BA6-60AC-4142-B85A-047E75664FC8}" srcId="{A782E7A6-B41C-4D08-A2C0-02BED9A517BF}" destId="{FA0CF02A-57F6-4239-AAA1-E15AF3EB421F}" srcOrd="1" destOrd="0" parTransId="{E2C988B8-790E-4C41-AC18-957E79EE85D6}" sibTransId="{5CFCA3B9-B41D-4A60-BD7F-C87465520CAC}"/>
    <dgm:cxn modelId="{19703BA7-6F36-47AA-81A1-D6F7041668FF}" type="presOf" srcId="{A782E7A6-B41C-4D08-A2C0-02BED9A517BF}" destId="{4BD27A53-0722-4E83-AE5C-58AE12511F93}" srcOrd="0" destOrd="0" presId="urn:microsoft.com/office/officeart/2024/layout/VerticalActionList"/>
    <dgm:cxn modelId="{1D33B3AC-7919-4AC6-82A3-779ABDE494F9}" type="presOf" srcId="{4523C7E6-E09B-4A54-AECC-DCB99BB94835}" destId="{1DD985EC-2946-40BA-B3FF-28820B9399DE}" srcOrd="1" destOrd="0" presId="urn:microsoft.com/office/officeart/2024/layout/VerticalActionList"/>
    <dgm:cxn modelId="{125B14AD-F5D9-4B21-9CA6-F24C63042457}" srcId="{4523C7E6-E09B-4A54-AECC-DCB99BB94835}" destId="{C79884BC-18AC-43DE-B8F2-631E53AD2410}" srcOrd="0" destOrd="0" parTransId="{E579470E-5DF2-4B2B-8467-9FFC6ECE3229}" sibTransId="{22D4DF15-5D40-4017-923D-3655E717C281}"/>
    <dgm:cxn modelId="{32F541B2-2713-4290-8C79-D4B9C2590C50}" srcId="{F68E517D-75A0-4BAC-86A0-74B7CC97CC6C}" destId="{D93C3EFB-9658-4618-9B61-A23BB6E3EDD1}" srcOrd="1" destOrd="0" parTransId="{3016D976-6187-48F2-8745-37FCFD35847E}" sibTransId="{D2CD5721-C262-4BA8-B2AC-96C5D4133F4F}"/>
    <dgm:cxn modelId="{47D99EC7-9063-490B-A110-CF2ACAA6FC23}" type="presOf" srcId="{A4CA4296-4159-4B75-AA14-93742C854B8C}" destId="{FA6F2AAF-A591-4B37-AFD1-F508305B925B}" srcOrd="0" destOrd="0" presId="urn:microsoft.com/office/officeart/2024/layout/VerticalActionList"/>
    <dgm:cxn modelId="{2F60FFD8-00DE-4F9A-9689-4F0675431B43}" srcId="{A782E7A6-B41C-4D08-A2C0-02BED9A517BF}" destId="{C41612E6-45CD-4496-AEA1-C38BF45B67FB}" srcOrd="2" destOrd="0" parTransId="{3015A2EF-7D88-4AC2-9C2A-AF0CB31F0CA9}" sibTransId="{1305A685-FB90-435A-8DF2-A8F474EAD591}"/>
    <dgm:cxn modelId="{9DDCA5DF-D1BF-436D-A270-3B5A0B6C4409}" type="presOf" srcId="{E183B646-784E-4153-AA3E-B13759A4AB25}" destId="{ACBE3658-6DBE-447A-8EC8-7058E8549540}" srcOrd="0" destOrd="1" presId="urn:microsoft.com/office/officeart/2024/layout/VerticalActionList"/>
    <dgm:cxn modelId="{78FABDF9-F828-4A88-B421-F44AC2B5163A}" type="presOf" srcId="{C41612E6-45CD-4496-AEA1-C38BF45B67FB}" destId="{746E01D2-50C3-423E-A795-C799D9634900}" srcOrd="0" destOrd="0" presId="urn:microsoft.com/office/officeart/2024/layout/VerticalActionList"/>
    <dgm:cxn modelId="{F26D22A3-E338-4AF1-B2BB-BD0B5EC1B199}" type="presParOf" srcId="{4BD27A53-0722-4E83-AE5C-58AE12511F93}" destId="{F2B50A47-24F5-4552-9033-A9BAF6B7EE18}" srcOrd="0" destOrd="0" presId="urn:microsoft.com/office/officeart/2024/layout/VerticalActionList"/>
    <dgm:cxn modelId="{9233635E-D1DB-4E35-9954-3E3F067E9461}" type="presParOf" srcId="{F2B50A47-24F5-4552-9033-A9BAF6B7EE18}" destId="{F681B6B0-1E4F-49E7-A370-3E1E0129CDA1}" srcOrd="0" destOrd="0" presId="urn:microsoft.com/office/officeart/2024/layout/VerticalActionList"/>
    <dgm:cxn modelId="{0E95533B-60BD-4236-92A4-198C7AB374B6}" type="presParOf" srcId="{F2B50A47-24F5-4552-9033-A9BAF6B7EE18}" destId="{DB441B4D-F339-43E1-812B-B5364D05E4A4}" srcOrd="1" destOrd="0" presId="urn:microsoft.com/office/officeart/2024/layout/VerticalActionList"/>
    <dgm:cxn modelId="{0B6D5876-FB56-4A7E-8A1C-DC0DCDA07D19}" type="presParOf" srcId="{F2B50A47-24F5-4552-9033-A9BAF6B7EE18}" destId="{B01E9AF8-A122-4F96-BC85-EB0459035445}" srcOrd="2" destOrd="0" presId="urn:microsoft.com/office/officeart/2024/layout/VerticalActionList"/>
    <dgm:cxn modelId="{C73251D6-3B54-4B2B-B8CB-1782411C284D}" type="presParOf" srcId="{4BD27A53-0722-4E83-AE5C-58AE12511F93}" destId="{EF57EE61-B97B-4FE6-B1A3-602D4AAB097B}" srcOrd="1" destOrd="0" presId="urn:microsoft.com/office/officeart/2024/layout/VerticalActionList"/>
    <dgm:cxn modelId="{071FE815-C3CE-412E-B4C4-9B3AF2F24D7D}" type="presParOf" srcId="{4BD27A53-0722-4E83-AE5C-58AE12511F93}" destId="{32277C77-10E9-4610-A800-39F1BFC1E885}" srcOrd="2" destOrd="0" presId="urn:microsoft.com/office/officeart/2024/layout/VerticalActionList"/>
    <dgm:cxn modelId="{BF6939E8-B11C-4333-B2BB-769A62079C06}" type="presParOf" srcId="{32277C77-10E9-4610-A800-39F1BFC1E885}" destId="{83B681AE-CE60-44D5-B312-609829CC0C8A}" srcOrd="0" destOrd="0" presId="urn:microsoft.com/office/officeart/2024/layout/VerticalActionList"/>
    <dgm:cxn modelId="{6E0B2481-F7A1-419C-BF5F-65301B559A1A}" type="presParOf" srcId="{32277C77-10E9-4610-A800-39F1BFC1E885}" destId="{DB44DE15-EBE5-4371-A9DC-126752B3FC5F}" srcOrd="1" destOrd="0" presId="urn:microsoft.com/office/officeart/2024/layout/VerticalActionList"/>
    <dgm:cxn modelId="{4703F449-7969-4835-9DBC-367FCB8C3EC2}" type="presParOf" srcId="{32277C77-10E9-4610-A800-39F1BFC1E885}" destId="{D42F6C3E-BB07-4787-AF7D-ADDD549710C9}" srcOrd="2" destOrd="0" presId="urn:microsoft.com/office/officeart/2024/layout/VerticalActionList"/>
    <dgm:cxn modelId="{DCE9F23D-A3A4-4656-B15F-1A60679ED583}" type="presParOf" srcId="{4BD27A53-0722-4E83-AE5C-58AE12511F93}" destId="{357EAA6F-8A40-43DD-A222-A3A221F663C4}" srcOrd="3" destOrd="0" presId="urn:microsoft.com/office/officeart/2024/layout/VerticalActionList"/>
    <dgm:cxn modelId="{E9FED320-B3B4-46E0-B79F-A95800FA5087}" type="presParOf" srcId="{4BD27A53-0722-4E83-AE5C-58AE12511F93}" destId="{A2670ECB-6883-440D-88EC-1DBE7DDD8222}" srcOrd="4" destOrd="0" presId="urn:microsoft.com/office/officeart/2024/layout/VerticalActionList"/>
    <dgm:cxn modelId="{FCFBA64D-9AB4-48D3-BD0C-E938C4F0036C}" type="presParOf" srcId="{A2670ECB-6883-440D-88EC-1DBE7DDD8222}" destId="{746E01D2-50C3-423E-A795-C799D9634900}" srcOrd="0" destOrd="0" presId="urn:microsoft.com/office/officeart/2024/layout/VerticalActionList"/>
    <dgm:cxn modelId="{6FE0FDB9-F662-4E2B-BD6A-4AD06134870B}" type="presParOf" srcId="{A2670ECB-6883-440D-88EC-1DBE7DDD8222}" destId="{50E6F389-E908-4301-8D7B-17F79E3D581D}" srcOrd="1" destOrd="0" presId="urn:microsoft.com/office/officeart/2024/layout/VerticalActionList"/>
    <dgm:cxn modelId="{04891ADC-9CEE-46A0-842F-7493396A17BA}" type="presParOf" srcId="{A2670ECB-6883-440D-88EC-1DBE7DDD8222}" destId="{FA6F2AAF-A591-4B37-AFD1-F508305B925B}" srcOrd="2" destOrd="0" presId="urn:microsoft.com/office/officeart/2024/layout/VerticalActionList"/>
    <dgm:cxn modelId="{6E01E963-A01F-40DE-A59B-EFE26AA7BAA1}" type="presParOf" srcId="{4BD27A53-0722-4E83-AE5C-58AE12511F93}" destId="{15D22C9C-9B2B-469A-A3D0-1B4CCDFB1F69}" srcOrd="5" destOrd="0" presId="urn:microsoft.com/office/officeart/2024/layout/VerticalActionList"/>
    <dgm:cxn modelId="{35DD8A05-5A42-41A8-A151-EB0D9645FD19}" type="presParOf" srcId="{4BD27A53-0722-4E83-AE5C-58AE12511F93}" destId="{CC56BC82-BB7B-4C0E-822F-97772A150E01}" srcOrd="6" destOrd="0" presId="urn:microsoft.com/office/officeart/2024/layout/VerticalActionList"/>
    <dgm:cxn modelId="{31E19A9B-67CD-4D86-8E90-091646E891E1}" type="presParOf" srcId="{CC56BC82-BB7B-4C0E-822F-97772A150E01}" destId="{581F3CE4-22AB-4A8E-87C0-14575982811C}" srcOrd="0" destOrd="0" presId="urn:microsoft.com/office/officeart/2024/layout/VerticalActionList"/>
    <dgm:cxn modelId="{802F6630-3986-457C-A6C1-BEDD5E6A52E3}" type="presParOf" srcId="{CC56BC82-BB7B-4C0E-822F-97772A150E01}" destId="{1DD985EC-2946-40BA-B3FF-28820B9399DE}" srcOrd="1" destOrd="0" presId="urn:microsoft.com/office/officeart/2024/layout/VerticalActionList"/>
    <dgm:cxn modelId="{C6719F1E-1D41-4705-A06C-EE369745AD7E}" type="presParOf" srcId="{CC56BC82-BB7B-4C0E-822F-97772A150E01}" destId="{ACBE3658-6DBE-447A-8EC8-7058E8549540}" srcOrd="2" destOrd="0" presId="urn:microsoft.com/office/officeart/2024/layout/Vertic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81B6B0-1E4F-49E7-A370-3E1E0129CDA1}">
      <dsp:nvSpPr>
        <dsp:cNvPr id="0" name=""/>
        <dsp:cNvSpPr/>
      </dsp:nvSpPr>
      <dsp:spPr>
        <a:xfrm rot="5400000">
          <a:off x="4689512" y="-3076644"/>
          <a:ext cx="713989" cy="6870035"/>
        </a:xfrm>
        <a:prstGeom prst="round2SameRect">
          <a:avLst>
            <a:gd name="adj1" fmla="val 15000"/>
            <a:gd name="adj2" fmla="val 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63" tIns="70526" rIns="89763" bIns="7052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>
              <a:latin typeface="Arial "/>
              <a:cs typeface="Arial MT"/>
            </a:rPr>
            <a:t>1.</a:t>
          </a:r>
          <a:r>
            <a:rPr lang="en-IN" sz="1300" kern="1200" spc="-10">
              <a:latin typeface="Arial "/>
              <a:cs typeface="Arial MT"/>
            </a:rPr>
            <a:t> </a:t>
          </a:r>
          <a:r>
            <a:rPr lang="en-IN" sz="1300" kern="1200">
              <a:latin typeface="Arial "/>
              <a:cs typeface="Arial MT"/>
            </a:rPr>
            <a:t>Input</a:t>
          </a:r>
          <a:r>
            <a:rPr lang="en-IN" sz="1300" kern="1200" spc="-5">
              <a:latin typeface="Arial "/>
              <a:cs typeface="Arial MT"/>
            </a:rPr>
            <a:t> </a:t>
          </a:r>
          <a:r>
            <a:rPr lang="en-IN" sz="1300" kern="1200" spc="-20">
              <a:latin typeface="Arial "/>
              <a:cs typeface="Arial MT"/>
            </a:rPr>
            <a:t>Layer</a:t>
          </a:r>
          <a:endParaRPr lang="en-IN" sz="1300" kern="1200"/>
        </a:p>
      </dsp:txBody>
      <dsp:txXfrm rot="16200000">
        <a:off x="20911" y="22291"/>
        <a:ext cx="1675393" cy="672165"/>
      </dsp:txXfrm>
    </dsp:sp>
    <dsp:sp modelId="{B01E9AF8-A122-4F96-BC85-EB0459035445}">
      <dsp:nvSpPr>
        <dsp:cNvPr id="0" name=""/>
        <dsp:cNvSpPr/>
      </dsp:nvSpPr>
      <dsp:spPr>
        <a:xfrm>
          <a:off x="1696304" y="1378"/>
          <a:ext cx="6785220" cy="7139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20" tIns="70526" rIns="143620" bIns="7052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rial MT"/>
              <a:cs typeface="Arial MT"/>
            </a:rPr>
            <a:t>Accepts</a:t>
          </a:r>
          <a:r>
            <a:rPr lang="en-US" sz="1100" kern="1200" spc="-35">
              <a:latin typeface="Arial MT"/>
              <a:cs typeface="Arial MT"/>
            </a:rPr>
            <a:t> </a:t>
          </a:r>
          <a:r>
            <a:rPr lang="en-US" sz="1100" b="1" kern="1200">
              <a:latin typeface="Arial"/>
              <a:cs typeface="Arial"/>
            </a:rPr>
            <a:t>news</a:t>
          </a:r>
          <a:r>
            <a:rPr lang="en-US" sz="1100" b="1" kern="1200" spc="-40">
              <a:latin typeface="Arial"/>
              <a:cs typeface="Arial"/>
            </a:rPr>
            <a:t> </a:t>
          </a:r>
          <a:r>
            <a:rPr lang="en-US" sz="1100" b="1" kern="1200">
              <a:latin typeface="Arial"/>
              <a:cs typeface="Arial"/>
            </a:rPr>
            <a:t>text</a:t>
          </a:r>
          <a:r>
            <a:rPr lang="en-US" sz="1100" b="1" kern="1200" spc="-15">
              <a:latin typeface="Arial"/>
              <a:cs typeface="Arial"/>
            </a:rPr>
            <a:t> </a:t>
          </a:r>
          <a:r>
            <a:rPr lang="en-US" sz="1100" b="1" kern="1200">
              <a:latin typeface="Arial"/>
              <a:cs typeface="Arial"/>
            </a:rPr>
            <a:t>and</a:t>
          </a:r>
          <a:r>
            <a:rPr lang="en-US" sz="1100" b="1" kern="1200" spc="-25">
              <a:latin typeface="Arial"/>
              <a:cs typeface="Arial"/>
            </a:rPr>
            <a:t> </a:t>
          </a:r>
          <a:r>
            <a:rPr lang="en-US" sz="1100" b="1" kern="1200">
              <a:latin typeface="Arial"/>
              <a:cs typeface="Arial"/>
            </a:rPr>
            <a:t>images</a:t>
          </a:r>
          <a:r>
            <a:rPr lang="en-US" sz="1100" b="1" kern="1200" spc="-5">
              <a:latin typeface="Arial"/>
              <a:cs typeface="Arial"/>
            </a:rPr>
            <a:t> </a:t>
          </a:r>
          <a:r>
            <a:rPr lang="en-US" sz="1100" kern="1200">
              <a:latin typeface="Arial MT"/>
              <a:cs typeface="Arial MT"/>
            </a:rPr>
            <a:t>as</a:t>
          </a:r>
          <a:r>
            <a:rPr lang="en-US" sz="1100" kern="1200" spc="20">
              <a:latin typeface="Arial MT"/>
              <a:cs typeface="Arial MT"/>
            </a:rPr>
            <a:t> </a:t>
          </a:r>
          <a:r>
            <a:rPr lang="en-US" sz="1100" kern="1200" spc="-10">
              <a:latin typeface="Arial MT"/>
              <a:cs typeface="Arial MT"/>
            </a:rPr>
            <a:t>input.</a:t>
          </a:r>
          <a:endParaRPr lang="en-IN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rial MT"/>
              <a:cs typeface="Arial MT"/>
            </a:rPr>
            <a:t>Uses</a:t>
          </a:r>
          <a:r>
            <a:rPr lang="en-US" sz="1100" kern="1200" spc="-20">
              <a:latin typeface="Arial MT"/>
              <a:cs typeface="Arial MT"/>
            </a:rPr>
            <a:t> </a:t>
          </a:r>
          <a:r>
            <a:rPr lang="en-US" sz="1100" b="1" kern="1200">
              <a:latin typeface="Arial"/>
              <a:cs typeface="Arial"/>
            </a:rPr>
            <a:t>BERT</a:t>
          </a:r>
          <a:r>
            <a:rPr lang="en-US" sz="1100" b="1" kern="1200" spc="-15">
              <a:latin typeface="Arial"/>
              <a:cs typeface="Arial"/>
            </a:rPr>
            <a:t> </a:t>
          </a:r>
          <a:r>
            <a:rPr lang="en-US" sz="1100" kern="1200">
              <a:latin typeface="Arial MT"/>
              <a:cs typeface="Arial MT"/>
            </a:rPr>
            <a:t>for</a:t>
          </a:r>
          <a:r>
            <a:rPr lang="en-US" sz="1100" kern="1200" spc="-20">
              <a:latin typeface="Arial MT"/>
              <a:cs typeface="Arial MT"/>
            </a:rPr>
            <a:t> </a:t>
          </a:r>
          <a:r>
            <a:rPr lang="en-US" sz="1100" kern="1200">
              <a:latin typeface="Arial MT"/>
              <a:cs typeface="Arial MT"/>
            </a:rPr>
            <a:t>text</a:t>
          </a:r>
          <a:r>
            <a:rPr lang="en-US" sz="1100" kern="1200" spc="-35">
              <a:latin typeface="Arial MT"/>
              <a:cs typeface="Arial MT"/>
            </a:rPr>
            <a:t> </a:t>
          </a:r>
          <a:r>
            <a:rPr lang="en-US" sz="1100" kern="1200">
              <a:latin typeface="Arial MT"/>
              <a:cs typeface="Arial MT"/>
            </a:rPr>
            <a:t>embeddings</a:t>
          </a:r>
          <a:r>
            <a:rPr lang="en-US" sz="1100" kern="1200" spc="20">
              <a:latin typeface="Arial MT"/>
              <a:cs typeface="Arial MT"/>
            </a:rPr>
            <a:t> </a:t>
          </a:r>
          <a:r>
            <a:rPr lang="en-US" sz="1100" kern="1200">
              <a:latin typeface="Arial MT"/>
              <a:cs typeface="Arial MT"/>
            </a:rPr>
            <a:t>and</a:t>
          </a:r>
          <a:r>
            <a:rPr lang="en-US" sz="1100" kern="1200" spc="-45">
              <a:latin typeface="Arial MT"/>
              <a:cs typeface="Arial MT"/>
            </a:rPr>
            <a:t> </a:t>
          </a:r>
          <a:r>
            <a:rPr lang="en-US" sz="1100" kern="1200">
              <a:latin typeface="Arial MT"/>
              <a:cs typeface="Arial MT"/>
            </a:rPr>
            <a:t>a</a:t>
          </a:r>
          <a:r>
            <a:rPr lang="en-US" sz="1100" kern="1200" spc="-45">
              <a:latin typeface="Arial MT"/>
              <a:cs typeface="Arial MT"/>
            </a:rPr>
            <a:t> </a:t>
          </a:r>
          <a:r>
            <a:rPr lang="en-US" sz="1100" b="1" kern="1200">
              <a:latin typeface="Arial"/>
              <a:cs typeface="Arial"/>
            </a:rPr>
            <a:t>Vision</a:t>
          </a:r>
          <a:r>
            <a:rPr lang="en-US" sz="1100" b="1" kern="1200" spc="-30">
              <a:latin typeface="Arial"/>
              <a:cs typeface="Arial"/>
            </a:rPr>
            <a:t> </a:t>
          </a:r>
          <a:r>
            <a:rPr lang="en-US" sz="1100" b="1" kern="1200">
              <a:latin typeface="Arial"/>
              <a:cs typeface="Arial"/>
            </a:rPr>
            <a:t>Model</a:t>
          </a:r>
          <a:r>
            <a:rPr lang="en-US" sz="1100" b="1" kern="1200" spc="-5">
              <a:latin typeface="Arial"/>
              <a:cs typeface="Arial"/>
            </a:rPr>
            <a:t> </a:t>
          </a:r>
          <a:r>
            <a:rPr lang="en-US" sz="1100" kern="1200">
              <a:latin typeface="Arial MT"/>
              <a:cs typeface="Arial MT"/>
            </a:rPr>
            <a:t>for</a:t>
          </a:r>
          <a:r>
            <a:rPr lang="en-US" sz="1100" kern="1200" spc="-20">
              <a:latin typeface="Arial MT"/>
              <a:cs typeface="Arial MT"/>
            </a:rPr>
            <a:t> </a:t>
          </a:r>
          <a:r>
            <a:rPr lang="en-US" sz="1100" kern="1200" spc="-10">
              <a:latin typeface="Arial MT"/>
              <a:cs typeface="Arial MT"/>
            </a:rPr>
            <a:t>image </a:t>
          </a:r>
          <a:r>
            <a:rPr lang="en-US" sz="1100" kern="1200">
              <a:latin typeface="Arial MT"/>
              <a:cs typeface="Arial MT"/>
            </a:rPr>
            <a:t>feature</a:t>
          </a:r>
          <a:r>
            <a:rPr lang="en-US" sz="1100" kern="1200" spc="-5">
              <a:latin typeface="Arial MT"/>
              <a:cs typeface="Arial MT"/>
            </a:rPr>
            <a:t> </a:t>
          </a:r>
          <a:r>
            <a:rPr lang="en-US" sz="1100" kern="1200" spc="-10">
              <a:latin typeface="Arial MT"/>
              <a:cs typeface="Arial MT"/>
            </a:rPr>
            <a:t>extraction.</a:t>
          </a:r>
          <a:endParaRPr lang="en-US" sz="1100" kern="1200">
            <a:latin typeface="Arial MT"/>
            <a:cs typeface="Arial MT"/>
          </a:endParaRPr>
        </a:p>
      </dsp:txBody>
      <dsp:txXfrm>
        <a:off x="1696304" y="1378"/>
        <a:ext cx="6785220" cy="713989"/>
      </dsp:txXfrm>
    </dsp:sp>
    <dsp:sp modelId="{DB441B4D-F339-43E1-812B-B5364D05E4A4}">
      <dsp:nvSpPr>
        <dsp:cNvPr id="0" name=""/>
        <dsp:cNvSpPr/>
      </dsp:nvSpPr>
      <dsp:spPr>
        <a:xfrm rot="16200000">
          <a:off x="491157" y="-489779"/>
          <a:ext cx="713989" cy="1696305"/>
        </a:xfrm>
        <a:prstGeom prst="round2SameRect">
          <a:avLst>
            <a:gd name="adj1" fmla="val 100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763" tIns="70526" rIns="89763" bIns="7052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>
              <a:latin typeface="Arial "/>
              <a:cs typeface="Arial MT"/>
            </a:rPr>
            <a:t>1.</a:t>
          </a:r>
          <a:r>
            <a:rPr lang="en-IN" sz="1300" kern="1200" spc="-10">
              <a:latin typeface="Arial "/>
              <a:cs typeface="Arial MT"/>
            </a:rPr>
            <a:t> </a:t>
          </a:r>
          <a:r>
            <a:rPr lang="en-IN" sz="1300" kern="1200">
              <a:latin typeface="Arial "/>
              <a:cs typeface="Arial MT"/>
            </a:rPr>
            <a:t>Input</a:t>
          </a:r>
          <a:r>
            <a:rPr lang="en-IN" sz="1300" kern="1200" spc="-5">
              <a:latin typeface="Arial "/>
              <a:cs typeface="Arial MT"/>
            </a:rPr>
            <a:t> </a:t>
          </a:r>
          <a:r>
            <a:rPr lang="en-IN" sz="1300" kern="1200" spc="-20">
              <a:latin typeface="Arial "/>
              <a:cs typeface="Arial MT"/>
            </a:rPr>
            <a:t>Layer</a:t>
          </a:r>
          <a:endParaRPr lang="en-IN" sz="1300" kern="1200"/>
        </a:p>
      </dsp:txBody>
      <dsp:txXfrm rot="5400000">
        <a:off x="20911" y="22291"/>
        <a:ext cx="1675393" cy="672165"/>
      </dsp:txXfrm>
    </dsp:sp>
    <dsp:sp modelId="{83B681AE-CE60-44D5-B312-609829CC0C8A}">
      <dsp:nvSpPr>
        <dsp:cNvPr id="0" name=""/>
        <dsp:cNvSpPr/>
      </dsp:nvSpPr>
      <dsp:spPr>
        <a:xfrm rot="5400000">
          <a:off x="4689512" y="-2319816"/>
          <a:ext cx="713989" cy="6870035"/>
        </a:xfrm>
        <a:prstGeom prst="round2SameRect">
          <a:avLst>
            <a:gd name="adj1" fmla="val 15000"/>
            <a:gd name="adj2" fmla="val 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63" tIns="70526" rIns="89763" bIns="7052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Arial"/>
              <a:cs typeface="Arial"/>
            </a:rPr>
            <a:t>2.Knowledge</a:t>
          </a:r>
          <a:r>
            <a:rPr lang="en-US" sz="1300" kern="1200" spc="-65">
              <a:latin typeface="Arial"/>
              <a:cs typeface="Arial"/>
            </a:rPr>
            <a:t> </a:t>
          </a:r>
          <a:r>
            <a:rPr lang="en-US" sz="1300" kern="1200" spc="-10">
              <a:latin typeface="Arial"/>
              <a:cs typeface="Arial"/>
            </a:rPr>
            <a:t>Graph </a:t>
          </a:r>
          <a:r>
            <a:rPr lang="en-US" sz="1300" kern="1200">
              <a:latin typeface="Arial"/>
              <a:cs typeface="Arial"/>
            </a:rPr>
            <a:t>&amp;</a:t>
          </a:r>
          <a:r>
            <a:rPr lang="en-US" sz="1300" kern="1200" spc="5">
              <a:latin typeface="Arial"/>
              <a:cs typeface="Arial"/>
            </a:rPr>
            <a:t> </a:t>
          </a:r>
          <a:r>
            <a:rPr lang="en-US" sz="1300" kern="1200">
              <a:latin typeface="Arial"/>
              <a:cs typeface="Arial"/>
            </a:rPr>
            <a:t>GAT</a:t>
          </a:r>
          <a:r>
            <a:rPr lang="en-US" sz="1300" kern="1200" spc="-60">
              <a:latin typeface="Arial"/>
              <a:cs typeface="Arial"/>
            </a:rPr>
            <a:t> </a:t>
          </a:r>
          <a:r>
            <a:rPr lang="en-US" sz="1300" kern="1200" spc="-10">
              <a:latin typeface="Arial"/>
              <a:cs typeface="Arial"/>
            </a:rPr>
            <a:t>Analysis</a:t>
          </a:r>
          <a:endParaRPr lang="en-IN" sz="1300" kern="1200"/>
        </a:p>
      </dsp:txBody>
      <dsp:txXfrm rot="16200000">
        <a:off x="20911" y="779118"/>
        <a:ext cx="1675393" cy="672165"/>
      </dsp:txXfrm>
    </dsp:sp>
    <dsp:sp modelId="{D42F6C3E-BB07-4787-AF7D-ADDD549710C9}">
      <dsp:nvSpPr>
        <dsp:cNvPr id="0" name=""/>
        <dsp:cNvSpPr/>
      </dsp:nvSpPr>
      <dsp:spPr>
        <a:xfrm>
          <a:off x="1696304" y="758206"/>
          <a:ext cx="6785220" cy="7139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20" tIns="70526" rIns="143620" bIns="7052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Extracts</a:t>
          </a:r>
          <a:r>
            <a:rPr lang="en-US" sz="1100" kern="1200" spc="-50"/>
            <a:t> </a:t>
          </a:r>
          <a:r>
            <a:rPr lang="en-US" sz="1100" kern="1200"/>
            <a:t>entities</a:t>
          </a:r>
          <a:r>
            <a:rPr lang="en-US" sz="1100" kern="1200" spc="-50"/>
            <a:t> </a:t>
          </a:r>
          <a:r>
            <a:rPr lang="en-US" sz="1100" kern="1200"/>
            <a:t>and</a:t>
          </a:r>
          <a:r>
            <a:rPr lang="en-US" sz="1100" kern="1200" spc="-45"/>
            <a:t> </a:t>
          </a:r>
          <a:r>
            <a:rPr lang="en-US" sz="1100" kern="1200"/>
            <a:t>constructs</a:t>
          </a:r>
          <a:r>
            <a:rPr lang="en-US" sz="1100" kern="1200" spc="20"/>
            <a:t> </a:t>
          </a:r>
          <a:r>
            <a:rPr lang="en-US" sz="1100" kern="1200"/>
            <a:t>a</a:t>
          </a:r>
          <a:r>
            <a:rPr lang="en-US" sz="1100" kern="1200" spc="-45"/>
            <a:t> </a:t>
          </a:r>
          <a:r>
            <a:rPr lang="en-US" sz="1100" b="1" kern="1200">
              <a:latin typeface="Arial"/>
              <a:cs typeface="Arial"/>
            </a:rPr>
            <a:t>Knowledge</a:t>
          </a:r>
          <a:r>
            <a:rPr lang="en-US" sz="1100" b="1" kern="1200" spc="-40">
              <a:latin typeface="Arial"/>
              <a:cs typeface="Arial"/>
            </a:rPr>
            <a:t> </a:t>
          </a:r>
          <a:r>
            <a:rPr lang="en-US" sz="1100" b="1" kern="1200" spc="-10">
              <a:latin typeface="Arial"/>
              <a:cs typeface="Arial"/>
            </a:rPr>
            <a:t>Graph</a:t>
          </a:r>
          <a:r>
            <a:rPr lang="en-US" sz="1100" kern="1200" spc="-10"/>
            <a:t>.</a:t>
          </a:r>
          <a:endParaRPr lang="en-IN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</a:t>
          </a:r>
          <a:r>
            <a:rPr lang="en-US" sz="1100" kern="1200" spc="-25"/>
            <a:t> </a:t>
          </a:r>
          <a:r>
            <a:rPr lang="en-US" sz="1100" b="1" kern="1200">
              <a:latin typeface="Arial"/>
              <a:cs typeface="Arial"/>
            </a:rPr>
            <a:t>Graph</a:t>
          </a:r>
          <a:r>
            <a:rPr lang="en-US" sz="1100" b="1" kern="1200" spc="-15">
              <a:latin typeface="Arial"/>
              <a:cs typeface="Arial"/>
            </a:rPr>
            <a:t> </a:t>
          </a:r>
          <a:r>
            <a:rPr lang="en-US" sz="1100" b="1" kern="1200">
              <a:latin typeface="Arial"/>
              <a:cs typeface="Arial"/>
            </a:rPr>
            <a:t>Attention</a:t>
          </a:r>
          <a:r>
            <a:rPr lang="en-US" sz="1100" b="1" kern="1200" spc="-15">
              <a:latin typeface="Arial"/>
              <a:cs typeface="Arial"/>
            </a:rPr>
            <a:t> </a:t>
          </a:r>
          <a:r>
            <a:rPr lang="en-US" sz="1100" b="1" kern="1200" spc="-10">
              <a:latin typeface="Arial"/>
              <a:cs typeface="Arial"/>
            </a:rPr>
            <a:t>Network</a:t>
          </a:r>
          <a:r>
            <a:rPr lang="en-US" sz="1100" b="1" kern="1200" spc="-30">
              <a:latin typeface="Arial"/>
              <a:cs typeface="Arial"/>
            </a:rPr>
            <a:t> </a:t>
          </a:r>
          <a:r>
            <a:rPr lang="en-US" sz="1100" b="1" kern="1200">
              <a:latin typeface="Arial"/>
              <a:cs typeface="Arial"/>
            </a:rPr>
            <a:t>(GAT)</a:t>
          </a:r>
          <a:r>
            <a:rPr lang="en-US" sz="1100" b="1" kern="1200" spc="-25">
              <a:latin typeface="Arial"/>
              <a:cs typeface="Arial"/>
            </a:rPr>
            <a:t> </a:t>
          </a:r>
          <a:r>
            <a:rPr lang="en-US" sz="1100" kern="1200"/>
            <a:t>learns</a:t>
          </a:r>
          <a:r>
            <a:rPr lang="en-US" sz="1100" kern="1200" spc="-40"/>
            <a:t> </a:t>
          </a:r>
          <a:r>
            <a:rPr lang="en-US" sz="1100" kern="1200"/>
            <a:t>semantic</a:t>
          </a:r>
          <a:r>
            <a:rPr lang="en-US" sz="1100" kern="1200" spc="30"/>
            <a:t> </a:t>
          </a:r>
          <a:r>
            <a:rPr lang="en-US" sz="1100" kern="1200" spc="-10"/>
            <a:t>relationships </a:t>
          </a:r>
          <a:r>
            <a:rPr lang="en-US" sz="1100" kern="1200"/>
            <a:t>between</a:t>
          </a:r>
          <a:r>
            <a:rPr lang="en-US" sz="1100" kern="1200" spc="10"/>
            <a:t> </a:t>
          </a:r>
          <a:r>
            <a:rPr lang="en-US" sz="1100" kern="1200"/>
            <a:t>nodes to</a:t>
          </a:r>
          <a:r>
            <a:rPr lang="en-US" sz="1100" kern="1200" spc="-60"/>
            <a:t> </a:t>
          </a:r>
          <a:r>
            <a:rPr lang="en-US" sz="1100" kern="1200"/>
            <a:t>predict</a:t>
          </a:r>
          <a:r>
            <a:rPr lang="en-US" sz="1100" kern="1200" spc="-40"/>
            <a:t> </a:t>
          </a:r>
          <a:r>
            <a:rPr lang="en-US" sz="1100" kern="1200"/>
            <a:t>news</a:t>
          </a:r>
          <a:r>
            <a:rPr lang="en-US" sz="1100" kern="1200" spc="-65"/>
            <a:t> </a:t>
          </a:r>
          <a:r>
            <a:rPr lang="en-US" sz="1100" kern="1200" spc="-10"/>
            <a:t>credibility.</a:t>
          </a:r>
        </a:p>
      </dsp:txBody>
      <dsp:txXfrm>
        <a:off x="1696304" y="758206"/>
        <a:ext cx="6785220" cy="713989"/>
      </dsp:txXfrm>
    </dsp:sp>
    <dsp:sp modelId="{DB44DE15-EBE5-4371-A9DC-126752B3FC5F}">
      <dsp:nvSpPr>
        <dsp:cNvPr id="0" name=""/>
        <dsp:cNvSpPr/>
      </dsp:nvSpPr>
      <dsp:spPr>
        <a:xfrm rot="16200000">
          <a:off x="491157" y="267048"/>
          <a:ext cx="713989" cy="1696305"/>
        </a:xfrm>
        <a:prstGeom prst="round2SameRect">
          <a:avLst>
            <a:gd name="adj1" fmla="val 100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763" tIns="70526" rIns="89763" bIns="7052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Arial"/>
              <a:cs typeface="Arial"/>
            </a:rPr>
            <a:t>2.Knowledge</a:t>
          </a:r>
          <a:r>
            <a:rPr lang="en-US" sz="1300" kern="1200" spc="-65">
              <a:latin typeface="Arial"/>
              <a:cs typeface="Arial"/>
            </a:rPr>
            <a:t> </a:t>
          </a:r>
          <a:r>
            <a:rPr lang="en-US" sz="1300" kern="1200" spc="-10">
              <a:latin typeface="Arial"/>
              <a:cs typeface="Arial"/>
            </a:rPr>
            <a:t>Graph </a:t>
          </a:r>
          <a:r>
            <a:rPr lang="en-US" sz="1300" kern="1200">
              <a:latin typeface="Arial"/>
              <a:cs typeface="Arial"/>
            </a:rPr>
            <a:t>&amp;</a:t>
          </a:r>
          <a:r>
            <a:rPr lang="en-US" sz="1300" kern="1200" spc="5">
              <a:latin typeface="Arial"/>
              <a:cs typeface="Arial"/>
            </a:rPr>
            <a:t> </a:t>
          </a:r>
          <a:r>
            <a:rPr lang="en-US" sz="1300" kern="1200">
              <a:latin typeface="Arial"/>
              <a:cs typeface="Arial"/>
            </a:rPr>
            <a:t>GAT</a:t>
          </a:r>
          <a:r>
            <a:rPr lang="en-US" sz="1300" kern="1200" spc="-60">
              <a:latin typeface="Arial"/>
              <a:cs typeface="Arial"/>
            </a:rPr>
            <a:t> </a:t>
          </a:r>
          <a:r>
            <a:rPr lang="en-US" sz="1300" kern="1200" spc="-10">
              <a:latin typeface="Arial"/>
              <a:cs typeface="Arial"/>
            </a:rPr>
            <a:t>Analysis</a:t>
          </a:r>
          <a:endParaRPr lang="en-IN" sz="1300" kern="1200"/>
        </a:p>
      </dsp:txBody>
      <dsp:txXfrm rot="5400000">
        <a:off x="20911" y="779118"/>
        <a:ext cx="1675393" cy="672165"/>
      </dsp:txXfrm>
    </dsp:sp>
    <dsp:sp modelId="{746E01D2-50C3-423E-A795-C799D9634900}">
      <dsp:nvSpPr>
        <dsp:cNvPr id="0" name=""/>
        <dsp:cNvSpPr/>
      </dsp:nvSpPr>
      <dsp:spPr>
        <a:xfrm rot="5400000">
          <a:off x="4689512" y="-1562987"/>
          <a:ext cx="713989" cy="6870035"/>
        </a:xfrm>
        <a:prstGeom prst="round2SameRect">
          <a:avLst>
            <a:gd name="adj1" fmla="val 15000"/>
            <a:gd name="adj2" fmla="val 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63" tIns="70526" rIns="89763" bIns="7052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spc="-10">
              <a:latin typeface="Arial "/>
              <a:cs typeface="Arial MT"/>
            </a:rPr>
            <a:t>3.RAG-</a:t>
          </a:r>
          <a:r>
            <a:rPr lang="en-IN" sz="1300" kern="1200" spc="-20">
              <a:latin typeface="Arial "/>
              <a:cs typeface="Arial MT"/>
            </a:rPr>
            <a:t>Based </a:t>
          </a:r>
          <a:r>
            <a:rPr lang="en-IN" sz="1300" kern="1200">
              <a:latin typeface="Arial "/>
              <a:cs typeface="Arial MT"/>
            </a:rPr>
            <a:t>Evidence</a:t>
          </a:r>
          <a:r>
            <a:rPr lang="en-IN" sz="1300" kern="1200" spc="-30">
              <a:latin typeface="Arial "/>
              <a:cs typeface="Arial MT"/>
            </a:rPr>
            <a:t> </a:t>
          </a:r>
          <a:r>
            <a:rPr lang="en-IN" sz="1300" kern="1200" spc="-10">
              <a:latin typeface="Arial "/>
              <a:cs typeface="Arial MT"/>
            </a:rPr>
            <a:t>Retrieval</a:t>
          </a:r>
          <a:endParaRPr lang="en-IN" sz="1300" kern="1200"/>
        </a:p>
      </dsp:txBody>
      <dsp:txXfrm rot="16200000">
        <a:off x="20911" y="1535947"/>
        <a:ext cx="1675393" cy="672165"/>
      </dsp:txXfrm>
    </dsp:sp>
    <dsp:sp modelId="{FA6F2AAF-A591-4B37-AFD1-F508305B925B}">
      <dsp:nvSpPr>
        <dsp:cNvPr id="0" name=""/>
        <dsp:cNvSpPr/>
      </dsp:nvSpPr>
      <dsp:spPr>
        <a:xfrm>
          <a:off x="1696304" y="1515035"/>
          <a:ext cx="6785220" cy="7139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20" tIns="70526" rIns="143620" bIns="7052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Retrieves</a:t>
          </a:r>
          <a:r>
            <a:rPr lang="en-US" sz="1100" kern="1200" spc="-55"/>
            <a:t> </a:t>
          </a:r>
          <a:r>
            <a:rPr lang="en-US" sz="1100" kern="1200"/>
            <a:t>relevant</a:t>
          </a:r>
          <a:r>
            <a:rPr lang="en-US" sz="1100" kern="1200" spc="-25"/>
            <a:t> </a:t>
          </a:r>
          <a:r>
            <a:rPr lang="en-US" sz="1100" kern="1200"/>
            <a:t>evidence</a:t>
          </a:r>
          <a:r>
            <a:rPr lang="en-US" sz="1100" kern="1200" spc="-40"/>
            <a:t> </a:t>
          </a:r>
          <a:r>
            <a:rPr lang="en-US" sz="1100" kern="1200"/>
            <a:t>from</a:t>
          </a:r>
          <a:r>
            <a:rPr lang="en-US" sz="1100" kern="1200" spc="-25"/>
            <a:t> </a:t>
          </a:r>
          <a:r>
            <a:rPr lang="en-US" sz="1100" b="1" kern="1200">
              <a:latin typeface="Arial"/>
              <a:cs typeface="Arial"/>
            </a:rPr>
            <a:t>trusted</a:t>
          </a:r>
          <a:r>
            <a:rPr lang="en-US" sz="1100" b="1" kern="1200" spc="-25">
              <a:latin typeface="Arial"/>
              <a:cs typeface="Arial"/>
            </a:rPr>
            <a:t> </a:t>
          </a:r>
          <a:r>
            <a:rPr lang="en-US" sz="1100" b="1" kern="1200">
              <a:latin typeface="Arial"/>
              <a:cs typeface="Arial"/>
            </a:rPr>
            <a:t>sources</a:t>
          </a:r>
          <a:r>
            <a:rPr lang="en-US" sz="1100" b="1" kern="1200" spc="-35">
              <a:latin typeface="Arial"/>
              <a:cs typeface="Arial"/>
            </a:rPr>
            <a:t> </a:t>
          </a:r>
          <a:r>
            <a:rPr lang="en-US" sz="1100" kern="1200"/>
            <a:t>using</a:t>
          </a:r>
          <a:r>
            <a:rPr lang="en-US" sz="1100" kern="1200" spc="-25"/>
            <a:t> </a:t>
          </a:r>
          <a:r>
            <a:rPr lang="en-US" sz="1100" b="1" kern="1200" spc="-10">
              <a:latin typeface="Arial"/>
              <a:cs typeface="Arial"/>
            </a:rPr>
            <a:t>FAISS </a:t>
          </a:r>
          <a:r>
            <a:rPr lang="en-US" sz="1100" b="1" kern="1200">
              <a:latin typeface="Arial"/>
              <a:cs typeface="Arial"/>
            </a:rPr>
            <a:t>Vector</a:t>
          </a:r>
          <a:r>
            <a:rPr lang="en-US" sz="1100" b="1" kern="1200" spc="-25">
              <a:latin typeface="Arial"/>
              <a:cs typeface="Arial"/>
            </a:rPr>
            <a:t> </a:t>
          </a:r>
          <a:r>
            <a:rPr lang="en-US" sz="1100" b="1" kern="1200">
              <a:latin typeface="Arial"/>
              <a:cs typeface="Arial"/>
            </a:rPr>
            <a:t>Database</a:t>
          </a:r>
          <a:r>
            <a:rPr lang="en-US" sz="1100" b="1" kern="1200" spc="-40">
              <a:latin typeface="Arial"/>
              <a:cs typeface="Arial"/>
            </a:rPr>
            <a:t> </a:t>
          </a:r>
          <a:r>
            <a:rPr lang="en-US" sz="1100" kern="1200"/>
            <a:t>and</a:t>
          </a:r>
          <a:r>
            <a:rPr lang="en-US" sz="1100" kern="1200" spc="-20"/>
            <a:t> </a:t>
          </a:r>
          <a:r>
            <a:rPr lang="en-US" sz="1100" b="1" kern="1200" spc="-20">
              <a:latin typeface="Arial"/>
              <a:cs typeface="Arial"/>
            </a:rPr>
            <a:t>RAG</a:t>
          </a:r>
          <a:r>
            <a:rPr lang="en-US" sz="1100" kern="1200" spc="-20"/>
            <a:t>.</a:t>
          </a:r>
          <a:endParaRPr lang="en-IN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Provides</a:t>
          </a:r>
          <a:r>
            <a:rPr lang="en-US" sz="1100" kern="1200" spc="-45"/>
            <a:t> </a:t>
          </a:r>
          <a:r>
            <a:rPr lang="en-US" sz="1100" kern="1200"/>
            <a:t>factual</a:t>
          </a:r>
          <a:r>
            <a:rPr lang="en-US" sz="1100" kern="1200" spc="-30"/>
            <a:t> </a:t>
          </a:r>
          <a:r>
            <a:rPr lang="en-US" sz="1100" kern="1200"/>
            <a:t>context</a:t>
          </a:r>
          <a:r>
            <a:rPr lang="en-US" sz="1100" kern="1200" spc="-20"/>
            <a:t> </a:t>
          </a:r>
          <a:r>
            <a:rPr lang="en-US" sz="1100" kern="1200"/>
            <a:t>to</a:t>
          </a:r>
          <a:r>
            <a:rPr lang="en-US" sz="1100" kern="1200" spc="-30"/>
            <a:t> </a:t>
          </a:r>
          <a:r>
            <a:rPr lang="en-US" sz="1100" kern="1200"/>
            <a:t>support</a:t>
          </a:r>
          <a:r>
            <a:rPr lang="en-US" sz="1100" kern="1200" spc="-15"/>
            <a:t> </a:t>
          </a:r>
          <a:r>
            <a:rPr lang="en-US" sz="1100" kern="1200"/>
            <a:t>or</a:t>
          </a:r>
          <a:r>
            <a:rPr lang="en-US" sz="1100" kern="1200" spc="-10"/>
            <a:t> contradict</a:t>
          </a:r>
          <a:r>
            <a:rPr lang="en-US" sz="1100" kern="1200" spc="-15"/>
            <a:t> </a:t>
          </a:r>
          <a:r>
            <a:rPr lang="en-US" sz="1100" kern="1200"/>
            <a:t>the</a:t>
          </a:r>
          <a:r>
            <a:rPr lang="en-US" sz="1100" kern="1200" spc="-30"/>
            <a:t> </a:t>
          </a:r>
          <a:r>
            <a:rPr lang="en-US" sz="1100" kern="1200"/>
            <a:t>news</a:t>
          </a:r>
          <a:r>
            <a:rPr lang="en-US" sz="1100" kern="1200" spc="25"/>
            <a:t> </a:t>
          </a:r>
          <a:r>
            <a:rPr lang="en-US" sz="1100" kern="1200" spc="-10"/>
            <a:t>claim.</a:t>
          </a:r>
        </a:p>
      </dsp:txBody>
      <dsp:txXfrm>
        <a:off x="1696304" y="1515035"/>
        <a:ext cx="6785220" cy="713989"/>
      </dsp:txXfrm>
    </dsp:sp>
    <dsp:sp modelId="{50E6F389-E908-4301-8D7B-17F79E3D581D}">
      <dsp:nvSpPr>
        <dsp:cNvPr id="0" name=""/>
        <dsp:cNvSpPr/>
      </dsp:nvSpPr>
      <dsp:spPr>
        <a:xfrm rot="16200000">
          <a:off x="491157" y="1023877"/>
          <a:ext cx="713989" cy="1696305"/>
        </a:xfrm>
        <a:prstGeom prst="round2SameRect">
          <a:avLst>
            <a:gd name="adj1" fmla="val 100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763" tIns="70526" rIns="89763" bIns="7052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spc="-10">
              <a:latin typeface="Arial "/>
              <a:cs typeface="Arial MT"/>
            </a:rPr>
            <a:t>3.RAG-</a:t>
          </a:r>
          <a:r>
            <a:rPr lang="en-IN" sz="1300" kern="1200" spc="-20">
              <a:latin typeface="Arial "/>
              <a:cs typeface="Arial MT"/>
            </a:rPr>
            <a:t>Based </a:t>
          </a:r>
          <a:r>
            <a:rPr lang="en-IN" sz="1300" kern="1200">
              <a:latin typeface="Arial "/>
              <a:cs typeface="Arial MT"/>
            </a:rPr>
            <a:t>Evidence</a:t>
          </a:r>
          <a:r>
            <a:rPr lang="en-IN" sz="1300" kern="1200" spc="-30">
              <a:latin typeface="Arial "/>
              <a:cs typeface="Arial MT"/>
            </a:rPr>
            <a:t> </a:t>
          </a:r>
          <a:r>
            <a:rPr lang="en-IN" sz="1300" kern="1200" spc="-10">
              <a:latin typeface="Arial "/>
              <a:cs typeface="Arial MT"/>
            </a:rPr>
            <a:t>Retrieval</a:t>
          </a:r>
          <a:endParaRPr lang="en-IN" sz="1300" kern="1200"/>
        </a:p>
      </dsp:txBody>
      <dsp:txXfrm rot="5400000">
        <a:off x="20911" y="1535947"/>
        <a:ext cx="1675393" cy="672165"/>
      </dsp:txXfrm>
    </dsp:sp>
    <dsp:sp modelId="{581F3CE4-22AB-4A8E-87C0-14575982811C}">
      <dsp:nvSpPr>
        <dsp:cNvPr id="0" name=""/>
        <dsp:cNvSpPr/>
      </dsp:nvSpPr>
      <dsp:spPr>
        <a:xfrm rot="5400000">
          <a:off x="4689512" y="-806159"/>
          <a:ext cx="713989" cy="6870035"/>
        </a:xfrm>
        <a:prstGeom prst="round2SameRect">
          <a:avLst>
            <a:gd name="adj1" fmla="val 15000"/>
            <a:gd name="adj2" fmla="val 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63" tIns="70526" rIns="89763" bIns="7052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Arial "/>
              <a:cs typeface="Arial MT"/>
            </a:rPr>
            <a:t>4.</a:t>
          </a:r>
          <a:r>
            <a:rPr lang="en-US" sz="1300" kern="1200" spc="-10">
              <a:latin typeface="Arial "/>
              <a:cs typeface="Arial MT"/>
            </a:rPr>
            <a:t> </a:t>
          </a:r>
          <a:r>
            <a:rPr lang="en-US" sz="1300" kern="1200">
              <a:latin typeface="Arial "/>
              <a:cs typeface="Arial MT"/>
            </a:rPr>
            <a:t>LLM</a:t>
          </a:r>
          <a:r>
            <a:rPr lang="en-US" sz="1300" kern="1200" spc="-35">
              <a:latin typeface="Arial "/>
              <a:cs typeface="Arial MT"/>
            </a:rPr>
            <a:t> </a:t>
          </a:r>
          <a:r>
            <a:rPr lang="en-US" sz="1300" kern="1200">
              <a:latin typeface="Arial "/>
              <a:cs typeface="Arial MT"/>
            </a:rPr>
            <a:t>Verification</a:t>
          </a:r>
          <a:r>
            <a:rPr lang="en-US" sz="1300" kern="1200" spc="-85">
              <a:latin typeface="Arial "/>
              <a:cs typeface="Arial MT"/>
            </a:rPr>
            <a:t> </a:t>
          </a:r>
          <a:r>
            <a:rPr lang="en-US" sz="1300" kern="1200" spc="-60">
              <a:latin typeface="Arial "/>
              <a:cs typeface="Arial MT"/>
            </a:rPr>
            <a:t>&amp; </a:t>
          </a:r>
          <a:r>
            <a:rPr lang="en-US" sz="1300" kern="1200">
              <a:latin typeface="Arial "/>
              <a:cs typeface="Arial MT"/>
            </a:rPr>
            <a:t>Explainable</a:t>
          </a:r>
          <a:r>
            <a:rPr lang="en-US" sz="1300" kern="1200" spc="-20">
              <a:latin typeface="Arial "/>
              <a:cs typeface="Arial MT"/>
            </a:rPr>
            <a:t> </a:t>
          </a:r>
          <a:r>
            <a:rPr lang="en-US" sz="1300" kern="1200" spc="-10">
              <a:latin typeface="Arial "/>
              <a:cs typeface="Arial MT"/>
            </a:rPr>
            <a:t>Output</a:t>
          </a:r>
          <a:endParaRPr lang="en-IN" sz="1300" kern="1200"/>
        </a:p>
      </dsp:txBody>
      <dsp:txXfrm rot="16200000">
        <a:off x="20911" y="2292775"/>
        <a:ext cx="1675393" cy="672165"/>
      </dsp:txXfrm>
    </dsp:sp>
    <dsp:sp modelId="{ACBE3658-6DBE-447A-8EC8-7058E8549540}">
      <dsp:nvSpPr>
        <dsp:cNvPr id="0" name=""/>
        <dsp:cNvSpPr/>
      </dsp:nvSpPr>
      <dsp:spPr>
        <a:xfrm>
          <a:off x="1696304" y="2271863"/>
          <a:ext cx="6785220" cy="7139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20" tIns="70526" rIns="143620" bIns="7052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rial MT"/>
              <a:cs typeface="Arial MT"/>
            </a:rPr>
            <a:t>The</a:t>
          </a:r>
          <a:r>
            <a:rPr lang="en-US" sz="1100" kern="1200" spc="-15">
              <a:latin typeface="Arial MT"/>
              <a:cs typeface="Arial MT"/>
            </a:rPr>
            <a:t> </a:t>
          </a:r>
          <a:r>
            <a:rPr lang="en-US" sz="1100" b="1" kern="1200">
              <a:latin typeface="Arial"/>
              <a:cs typeface="Arial"/>
            </a:rPr>
            <a:t>LLM</a:t>
          </a:r>
          <a:r>
            <a:rPr lang="en-US" sz="1100" b="1" kern="1200" spc="-30">
              <a:latin typeface="Arial"/>
              <a:cs typeface="Arial"/>
            </a:rPr>
            <a:t> </a:t>
          </a:r>
          <a:r>
            <a:rPr lang="en-US" sz="1100" kern="1200">
              <a:latin typeface="Arial MT"/>
              <a:cs typeface="Arial MT"/>
            </a:rPr>
            <a:t>combines</a:t>
          </a:r>
          <a:r>
            <a:rPr lang="en-US" sz="1100" kern="1200" spc="-50">
              <a:latin typeface="Arial MT"/>
              <a:cs typeface="Arial MT"/>
            </a:rPr>
            <a:t> </a:t>
          </a:r>
          <a:r>
            <a:rPr lang="en-US" sz="1100" kern="1200">
              <a:latin typeface="Arial MT"/>
              <a:cs typeface="Arial MT"/>
            </a:rPr>
            <a:t>graph</a:t>
          </a:r>
          <a:r>
            <a:rPr lang="en-US" sz="1100" kern="1200" spc="-35">
              <a:latin typeface="Arial MT"/>
              <a:cs typeface="Arial MT"/>
            </a:rPr>
            <a:t> </a:t>
          </a:r>
          <a:r>
            <a:rPr lang="en-US" sz="1100" kern="1200">
              <a:latin typeface="Arial MT"/>
              <a:cs typeface="Arial MT"/>
            </a:rPr>
            <a:t>insights</a:t>
          </a:r>
          <a:r>
            <a:rPr lang="en-US" sz="1100" kern="1200" spc="-50">
              <a:latin typeface="Arial MT"/>
              <a:cs typeface="Arial MT"/>
            </a:rPr>
            <a:t> </a:t>
          </a:r>
          <a:r>
            <a:rPr lang="en-US" sz="1100" kern="1200">
              <a:latin typeface="Arial MT"/>
              <a:cs typeface="Arial MT"/>
            </a:rPr>
            <a:t>with</a:t>
          </a:r>
          <a:r>
            <a:rPr lang="en-US" sz="1100" kern="1200" spc="-35">
              <a:latin typeface="Arial MT"/>
              <a:cs typeface="Arial MT"/>
            </a:rPr>
            <a:t> </a:t>
          </a:r>
          <a:r>
            <a:rPr lang="en-US" sz="1100" kern="1200">
              <a:latin typeface="Arial MT"/>
              <a:cs typeface="Arial MT"/>
            </a:rPr>
            <a:t>retrieved</a:t>
          </a:r>
          <a:r>
            <a:rPr lang="en-US" sz="1100" kern="1200" spc="-40">
              <a:latin typeface="Arial MT"/>
              <a:cs typeface="Arial MT"/>
            </a:rPr>
            <a:t> </a:t>
          </a:r>
          <a:r>
            <a:rPr lang="en-US" sz="1100" kern="1200" spc="-10">
              <a:latin typeface="Arial MT"/>
              <a:cs typeface="Arial MT"/>
            </a:rPr>
            <a:t>evidence.</a:t>
          </a:r>
          <a:endParaRPr lang="en-IN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spc="-10">
              <a:latin typeface="Arial MT"/>
              <a:cs typeface="Arial MT"/>
            </a:rPr>
            <a:t>Generates</a:t>
          </a:r>
          <a:r>
            <a:rPr lang="en-US" sz="1100" kern="1200" spc="-45">
              <a:latin typeface="Arial MT"/>
              <a:cs typeface="Arial MT"/>
            </a:rPr>
            <a:t> </a:t>
          </a:r>
          <a:r>
            <a:rPr lang="en-US" sz="1100" kern="1200">
              <a:latin typeface="Arial MT"/>
              <a:cs typeface="Arial MT"/>
            </a:rPr>
            <a:t>the</a:t>
          </a:r>
          <a:r>
            <a:rPr lang="en-US" sz="1100" kern="1200" spc="-35">
              <a:latin typeface="Arial MT"/>
              <a:cs typeface="Arial MT"/>
            </a:rPr>
            <a:t> </a:t>
          </a:r>
          <a:r>
            <a:rPr lang="en-US" sz="1100" kern="1200">
              <a:latin typeface="Arial MT"/>
              <a:cs typeface="Arial MT"/>
            </a:rPr>
            <a:t>final</a:t>
          </a:r>
          <a:r>
            <a:rPr lang="en-US" sz="1100" kern="1200" spc="25">
              <a:latin typeface="Arial MT"/>
              <a:cs typeface="Arial MT"/>
            </a:rPr>
            <a:t> </a:t>
          </a:r>
          <a:r>
            <a:rPr lang="en-US" sz="1100" b="1" kern="1200">
              <a:latin typeface="Arial"/>
              <a:cs typeface="Arial"/>
            </a:rPr>
            <a:t>Fake/Real</a:t>
          </a:r>
          <a:r>
            <a:rPr lang="en-US" sz="1100" b="1" kern="1200" spc="-20">
              <a:latin typeface="Arial"/>
              <a:cs typeface="Arial"/>
            </a:rPr>
            <a:t> </a:t>
          </a:r>
          <a:r>
            <a:rPr lang="en-US" sz="1100" b="1" kern="1200">
              <a:latin typeface="Arial"/>
              <a:cs typeface="Arial"/>
            </a:rPr>
            <a:t>prediction</a:t>
          </a:r>
          <a:r>
            <a:rPr lang="en-US" sz="1100" kern="1200">
              <a:latin typeface="Arial MT"/>
              <a:cs typeface="Arial MT"/>
            </a:rPr>
            <a:t>,</a:t>
          </a:r>
          <a:r>
            <a:rPr lang="en-US" sz="1100" kern="1200" spc="-20">
              <a:latin typeface="Arial MT"/>
              <a:cs typeface="Arial MT"/>
            </a:rPr>
            <a:t> </a:t>
          </a:r>
          <a:r>
            <a:rPr lang="en-US" sz="1100" b="1" kern="1200">
              <a:latin typeface="Arial"/>
              <a:cs typeface="Arial"/>
            </a:rPr>
            <a:t>confidence</a:t>
          </a:r>
          <a:r>
            <a:rPr lang="en-US" sz="1100" b="1" kern="1200" spc="45">
              <a:latin typeface="Arial"/>
              <a:cs typeface="Arial"/>
            </a:rPr>
            <a:t> </a:t>
          </a:r>
          <a:r>
            <a:rPr lang="en-US" sz="1100" b="1" kern="1200" spc="-10">
              <a:latin typeface="Arial"/>
              <a:cs typeface="Arial"/>
            </a:rPr>
            <a:t>score</a:t>
          </a:r>
          <a:r>
            <a:rPr lang="en-US" sz="1100" kern="1200" spc="-10">
              <a:latin typeface="Arial MT"/>
              <a:cs typeface="Arial MT"/>
            </a:rPr>
            <a:t>,</a:t>
          </a:r>
          <a:r>
            <a:rPr lang="en-US" sz="1100" kern="1200" spc="-20">
              <a:latin typeface="Arial MT"/>
              <a:cs typeface="Arial MT"/>
            </a:rPr>
            <a:t> </a:t>
          </a:r>
          <a:r>
            <a:rPr lang="en-US" sz="1100" kern="1200" spc="-25">
              <a:latin typeface="Arial MT"/>
              <a:cs typeface="Arial MT"/>
            </a:rPr>
            <a:t>and </a:t>
          </a:r>
          <a:r>
            <a:rPr lang="en-US" sz="1100" kern="1200">
              <a:latin typeface="Arial MT"/>
              <a:cs typeface="Arial MT"/>
            </a:rPr>
            <a:t>an</a:t>
          </a:r>
          <a:r>
            <a:rPr lang="en-US" sz="1100" kern="1200" spc="-10">
              <a:latin typeface="Arial MT"/>
              <a:cs typeface="Arial MT"/>
            </a:rPr>
            <a:t> </a:t>
          </a:r>
          <a:r>
            <a:rPr lang="en-US" sz="1100" b="1" kern="1200">
              <a:latin typeface="Arial"/>
              <a:cs typeface="Arial"/>
            </a:rPr>
            <a:t>explainable</a:t>
          </a:r>
          <a:r>
            <a:rPr lang="en-US" sz="1100" b="1" kern="1200" spc="-25">
              <a:latin typeface="Arial"/>
              <a:cs typeface="Arial"/>
            </a:rPr>
            <a:t> </a:t>
          </a:r>
          <a:r>
            <a:rPr lang="en-US" sz="1100" b="1" kern="1200">
              <a:latin typeface="Arial"/>
              <a:cs typeface="Arial"/>
            </a:rPr>
            <a:t>verification</a:t>
          </a:r>
          <a:r>
            <a:rPr lang="en-US" sz="1100" b="1" kern="1200" spc="-10">
              <a:latin typeface="Arial"/>
              <a:cs typeface="Arial"/>
            </a:rPr>
            <a:t> report</a:t>
          </a:r>
          <a:r>
            <a:rPr lang="en-US" sz="1100" kern="1200" spc="-10">
              <a:latin typeface="Arial MT"/>
              <a:cs typeface="Arial MT"/>
            </a:rPr>
            <a:t>.</a:t>
          </a:r>
          <a:endParaRPr lang="en-US" sz="1100" kern="1200">
            <a:latin typeface="Arial MT"/>
            <a:cs typeface="Arial MT"/>
          </a:endParaRPr>
        </a:p>
      </dsp:txBody>
      <dsp:txXfrm>
        <a:off x="1696304" y="2271863"/>
        <a:ext cx="6785220" cy="713989"/>
      </dsp:txXfrm>
    </dsp:sp>
    <dsp:sp modelId="{1DD985EC-2946-40BA-B3FF-28820B9399DE}">
      <dsp:nvSpPr>
        <dsp:cNvPr id="0" name=""/>
        <dsp:cNvSpPr/>
      </dsp:nvSpPr>
      <dsp:spPr>
        <a:xfrm rot="16200000">
          <a:off x="491157" y="1780705"/>
          <a:ext cx="713989" cy="1696305"/>
        </a:xfrm>
        <a:prstGeom prst="round2SameRect">
          <a:avLst>
            <a:gd name="adj1" fmla="val 100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763" tIns="70526" rIns="89763" bIns="7052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Arial "/>
              <a:cs typeface="Arial MT"/>
            </a:rPr>
            <a:t>4.</a:t>
          </a:r>
          <a:r>
            <a:rPr lang="en-US" sz="1300" kern="1200" spc="-10">
              <a:latin typeface="Arial "/>
              <a:cs typeface="Arial MT"/>
            </a:rPr>
            <a:t> </a:t>
          </a:r>
          <a:r>
            <a:rPr lang="en-US" sz="1300" kern="1200">
              <a:latin typeface="Arial "/>
              <a:cs typeface="Arial MT"/>
            </a:rPr>
            <a:t>LLM</a:t>
          </a:r>
          <a:r>
            <a:rPr lang="en-US" sz="1300" kern="1200" spc="-35">
              <a:latin typeface="Arial "/>
              <a:cs typeface="Arial MT"/>
            </a:rPr>
            <a:t> </a:t>
          </a:r>
          <a:r>
            <a:rPr lang="en-US" sz="1300" kern="1200">
              <a:latin typeface="Arial "/>
              <a:cs typeface="Arial MT"/>
            </a:rPr>
            <a:t>Verification</a:t>
          </a:r>
          <a:r>
            <a:rPr lang="en-US" sz="1300" kern="1200" spc="-85">
              <a:latin typeface="Arial "/>
              <a:cs typeface="Arial MT"/>
            </a:rPr>
            <a:t> </a:t>
          </a:r>
          <a:r>
            <a:rPr lang="en-US" sz="1300" kern="1200" spc="-60">
              <a:latin typeface="Arial "/>
              <a:cs typeface="Arial MT"/>
            </a:rPr>
            <a:t>&amp; </a:t>
          </a:r>
          <a:r>
            <a:rPr lang="en-US" sz="1300" kern="1200">
              <a:latin typeface="Arial "/>
              <a:cs typeface="Arial MT"/>
            </a:rPr>
            <a:t>Explainable</a:t>
          </a:r>
          <a:r>
            <a:rPr lang="en-US" sz="1300" kern="1200" spc="-20">
              <a:latin typeface="Arial "/>
              <a:cs typeface="Arial MT"/>
            </a:rPr>
            <a:t> </a:t>
          </a:r>
          <a:r>
            <a:rPr lang="en-US" sz="1300" kern="1200" spc="-10">
              <a:latin typeface="Arial "/>
              <a:cs typeface="Arial MT"/>
            </a:rPr>
            <a:t>Output</a:t>
          </a:r>
          <a:endParaRPr lang="en-IN" sz="1300" kern="1200"/>
        </a:p>
      </dsp:txBody>
      <dsp:txXfrm rot="5400000">
        <a:off x="20911" y="2292775"/>
        <a:ext cx="1675393" cy="6721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VerticalActionList">
  <dgm:title val=""/>
  <dgm:desc val=""/>
  <dgm:catLst>
    <dgm:cat type="list" pri="8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T"/>
          <dgm:param type="nodeHorzAlign" val="l"/>
        </dgm:alg>
      </dgm:if>
      <dgm:else name="dirRev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alg type="composite"/>
        <dgm:shape xmlns:r="http://schemas.openxmlformats.org/officeDocument/2006/relationships" r:blip="">
          <dgm:adjLst/>
        </dgm:shape>
        <dgm:presOf/>
        <dgm:choose name="compositeDir">
          <dgm:if name="compositeNorm" func="var" arg="dir" op="equ" val="norm">
            <dgm:constrLst>
              <dgm:constr type="l" for="ch" forName="bgOutline" refType="w" fact="0.19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 refType="w" fact="0.2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if>
          <dgm:else name="compositeRev">
            <dgm:constrLst>
              <dgm:constr type="l" for="ch" forName="bgOutline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 refType="w" fact="0.8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else>
        </dgm:choose>
        <dgm:ruleLst/>
        <dgm:layoutNode name="bgOutline" styleLbl="fgAcc1">
          <dgm:alg type="sp"/>
          <dgm:choose name="bgOutlineDir">
            <dgm:if name="bgOutlineNorm" func="var" arg="dir" op="equ" val="norm">
              <dgm:shape xmlns:r="http://schemas.openxmlformats.org/officeDocument/2006/relationships" rot="90" type="round2SameRect" r:blip="">
                <dgm:adjLst>
                  <dgm:adj idx="1" val="0.15"/>
                  <dgm:adj idx="2" val="0"/>
                </dgm:adjLst>
              </dgm:shape>
            </dgm:if>
            <dgm:else name="bgOutlineRev">
              <dgm:shape xmlns:r="http://schemas.openxmlformats.org/officeDocument/2006/relationships" rot="-90" type="round2SameRect" r:blip="">
                <dgm:adjLst>
                  <dgm:adj idx="1" val="0.15"/>
                  <dgm:adj idx="2" val="0"/>
                </dgm:adjLst>
              </dgm:shape>
            </dgm:else>
          </dgm:choose>
          <dgm:presOf axis="self"/>
          <dgm:constrLst/>
          <dgm:ruleLst/>
        </dgm:layoutNode>
        <dgm:layoutNode name="parentText" styleLbl="alignNode1">
          <dgm:varLst>
            <dgm:chMax val="1"/>
            <dgm:bulletEnabled/>
          </dgm:varLst>
          <dgm:alg type="tx">
            <dgm:param type="parTxLTRAlign" val="l"/>
            <dgm:param type="parTxRTLAlign" val="r"/>
          </dgm:alg>
          <dgm:choose name="parentShapeDir">
            <dgm:if name="parentShapeNorm" func="var" arg="dir" op="equ" val="norm">
              <dgm:shape xmlns:r="http://schemas.openxmlformats.org/officeDocument/2006/relationships" rot="-90" type="round2SameRect" r:blip="" zOrderOff="3">
                <dgm:adjLst>
                  <dgm:adj idx="1" val="0.1"/>
                </dgm:adjLst>
              </dgm:shape>
            </dgm:if>
            <dgm:else name="parentShapeRev">
              <dgm:shape xmlns:r="http://schemas.openxmlformats.org/officeDocument/2006/relationships" rot="90" type="round2SameRect" r:blip="" zOrderOff="3">
                <dgm:adjLst>
                  <dgm:adj idx="1" val="0.1"/>
                </dgm:adjLst>
              </dgm:shape>
            </dgm:else>
          </dgm:choos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8" fact="NaN" max="NaN"/>
          </dgm:ruleLst>
        </dgm:layoutNode>
        <dgm:layoutNode name="descendantText" styleLbl="revTx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" ptType="node"/>
          <dgm:constrLst>
            <dgm:constr type="primFontSz" val="24"/>
            <dgm:constr type="lMarg" refType="w" fact="0.06"/>
            <dgm:constr type="rMarg" refType="w" fact="0.06"/>
            <dgm:constr type="tMarg" refType="h" fact="0.28"/>
            <dgm:constr type="bMarg" refType="h" fact="0.28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8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3360"/>
              <a:buNone/>
              <a:defRPr sz="1800" b="1"/>
            </a:lvl1pPr>
            <a:lvl2pPr marL="685800" lvl="1" indent="-1714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3000"/>
              <a:buNone/>
              <a:defRPr sz="1500" b="1"/>
            </a:lvl2pPr>
            <a:lvl3pPr marL="1028700" lvl="2" indent="-171450" algn="l">
              <a:lnSpc>
                <a:spcPct val="100000"/>
              </a:lnSpc>
              <a:spcBef>
                <a:spcPts val="378"/>
              </a:spcBef>
              <a:spcAft>
                <a:spcPts val="0"/>
              </a:spcAft>
              <a:buSzPts val="2520"/>
              <a:buNone/>
              <a:defRPr sz="1350" b="1"/>
            </a:lvl3pPr>
            <a:lvl4pPr marL="1371600" lvl="3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4pPr>
            <a:lvl5pPr marL="1714500" lvl="4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5pPr>
            <a:lvl6pPr marL="2057400" lvl="5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6pPr>
            <a:lvl7pPr marL="2400300" lvl="6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7pPr>
            <a:lvl8pPr marL="2743200" lvl="7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8pPr>
            <a:lvl9pPr marL="3086100" lvl="8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342900" lvl="0" indent="-33147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3360"/>
              <a:buChar char="•"/>
              <a:defRPr sz="1800"/>
            </a:lvl1pPr>
            <a:lvl2pPr marL="685800" lvl="1" indent="-31432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3000"/>
              <a:buChar char="–"/>
              <a:defRPr sz="1500"/>
            </a:lvl2pPr>
            <a:lvl3pPr marL="1028700" lvl="2" indent="-291464" algn="l">
              <a:lnSpc>
                <a:spcPct val="100000"/>
              </a:lnSpc>
              <a:spcBef>
                <a:spcPts val="378"/>
              </a:spcBef>
              <a:spcAft>
                <a:spcPts val="0"/>
              </a:spcAft>
              <a:buSzPts val="2520"/>
              <a:buChar char="•"/>
              <a:defRPr sz="1350"/>
            </a:lvl3pPr>
            <a:lvl4pPr marL="1371600" lvl="3" indent="-27432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–"/>
              <a:defRPr sz="1200"/>
            </a:lvl4pPr>
            <a:lvl5pPr marL="1714500" lvl="4" indent="-27432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»"/>
              <a:defRPr sz="1200"/>
            </a:lvl5pPr>
            <a:lvl6pPr marL="2057400" lvl="5" indent="-27432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•"/>
              <a:defRPr sz="1200"/>
            </a:lvl6pPr>
            <a:lvl7pPr marL="2400300" lvl="6" indent="-27432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•"/>
              <a:defRPr sz="1200"/>
            </a:lvl7pPr>
            <a:lvl8pPr marL="2743200" lvl="7" indent="-274319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•"/>
              <a:defRPr sz="1200"/>
            </a:lvl8pPr>
            <a:lvl9pPr marL="3086100" lvl="8" indent="-274319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•"/>
              <a:defRPr sz="1200"/>
            </a:lvl9pPr>
          </a:lstStyle>
          <a:p>
            <a:endParaRPr/>
          </a:p>
        </p:txBody>
      </p:sp>
      <p:sp>
        <p:nvSpPr>
          <p:cNvPr id="27" name="Google Shape;27;p43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3360"/>
              <a:buNone/>
              <a:defRPr sz="1800" b="1"/>
            </a:lvl1pPr>
            <a:lvl2pPr marL="685800" lvl="1" indent="-1714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3000"/>
              <a:buNone/>
              <a:defRPr sz="1500" b="1"/>
            </a:lvl2pPr>
            <a:lvl3pPr marL="1028700" lvl="2" indent="-171450" algn="l">
              <a:lnSpc>
                <a:spcPct val="100000"/>
              </a:lnSpc>
              <a:spcBef>
                <a:spcPts val="378"/>
              </a:spcBef>
              <a:spcAft>
                <a:spcPts val="0"/>
              </a:spcAft>
              <a:buSzPts val="2520"/>
              <a:buNone/>
              <a:defRPr sz="1350" b="1"/>
            </a:lvl3pPr>
            <a:lvl4pPr marL="1371600" lvl="3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4pPr>
            <a:lvl5pPr marL="1714500" lvl="4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5pPr>
            <a:lvl6pPr marL="2057400" lvl="5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6pPr>
            <a:lvl7pPr marL="2400300" lvl="6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7pPr>
            <a:lvl8pPr marL="2743200" lvl="7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8pPr>
            <a:lvl9pPr marL="3086100" lvl="8" indent="-17145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None/>
              <a:defRPr sz="1200" b="1"/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342900" lvl="0" indent="-33147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3360"/>
              <a:buChar char="•"/>
              <a:defRPr sz="1800"/>
            </a:lvl1pPr>
            <a:lvl2pPr marL="685800" lvl="1" indent="-31432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3000"/>
              <a:buChar char="–"/>
              <a:defRPr sz="1500"/>
            </a:lvl2pPr>
            <a:lvl3pPr marL="1028700" lvl="2" indent="-291464" algn="l">
              <a:lnSpc>
                <a:spcPct val="100000"/>
              </a:lnSpc>
              <a:spcBef>
                <a:spcPts val="378"/>
              </a:spcBef>
              <a:spcAft>
                <a:spcPts val="0"/>
              </a:spcAft>
              <a:buSzPts val="2520"/>
              <a:buChar char="•"/>
              <a:defRPr sz="1350"/>
            </a:lvl3pPr>
            <a:lvl4pPr marL="1371600" lvl="3" indent="-27432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–"/>
              <a:defRPr sz="1200"/>
            </a:lvl4pPr>
            <a:lvl5pPr marL="1714500" lvl="4" indent="-27432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»"/>
              <a:defRPr sz="1200"/>
            </a:lvl5pPr>
            <a:lvl6pPr marL="2057400" lvl="5" indent="-27432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•"/>
              <a:defRPr sz="1200"/>
            </a:lvl6pPr>
            <a:lvl7pPr marL="2400300" lvl="6" indent="-27432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•"/>
              <a:defRPr sz="1200"/>
            </a:lvl7pPr>
            <a:lvl8pPr marL="2743200" lvl="7" indent="-274319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•"/>
              <a:defRPr sz="1200"/>
            </a:lvl8pPr>
            <a:lvl9pPr marL="3086100" lvl="8" indent="-274319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SzPts val="2160"/>
              <a:buChar char="•"/>
              <a:defRPr sz="1200"/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3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3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336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3715" y="290131"/>
            <a:ext cx="6284595" cy="529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14954" y="2349690"/>
            <a:ext cx="4377690" cy="1256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61209" y="2114550"/>
            <a:ext cx="5014595" cy="4629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2900" spc="-10">
                <a:latin typeface="Times New Roman"/>
                <a:cs typeface="Times New Roman"/>
              </a:rPr>
              <a:t>Fake News Detection using GNN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00780" y="3479482"/>
            <a:ext cx="5934075" cy="11317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26005" algn="ctr">
              <a:lnSpc>
                <a:spcPts val="1795"/>
              </a:lnSpc>
            </a:pPr>
            <a:r>
              <a:rPr sz="1550" b="1">
                <a:latin typeface="Times New Roman"/>
                <a:cs typeface="Times New Roman"/>
              </a:rPr>
              <a:t>Team</a:t>
            </a:r>
            <a:r>
              <a:rPr sz="1550" b="1" spc="155">
                <a:latin typeface="Times New Roman"/>
                <a:cs typeface="Times New Roman"/>
              </a:rPr>
              <a:t> </a:t>
            </a:r>
            <a:r>
              <a:rPr sz="1550" b="1" spc="-10">
                <a:latin typeface="Times New Roman"/>
                <a:cs typeface="Times New Roman"/>
              </a:rPr>
              <a:t>members:</a:t>
            </a:r>
            <a:endParaRPr lang="en-US" sz="1550">
              <a:latin typeface="Times New Roman"/>
              <a:cs typeface="Times New Roman"/>
            </a:endParaRPr>
          </a:p>
          <a:p>
            <a:pPr marL="2323465" algn="ctr">
              <a:lnSpc>
                <a:spcPts val="1730"/>
              </a:lnSpc>
            </a:pPr>
            <a:r>
              <a:rPr sz="1550">
                <a:latin typeface="Times New Roman"/>
                <a:cs typeface="Times New Roman"/>
              </a:rPr>
              <a:t>A</a:t>
            </a:r>
            <a:r>
              <a:rPr sz="1550" spc="90">
                <a:latin typeface="Times New Roman"/>
                <a:cs typeface="Times New Roman"/>
              </a:rPr>
              <a:t> </a:t>
            </a:r>
            <a:r>
              <a:rPr sz="1550">
                <a:latin typeface="Times New Roman"/>
                <a:cs typeface="Times New Roman"/>
              </a:rPr>
              <a:t>Sai</a:t>
            </a:r>
            <a:r>
              <a:rPr sz="1550" spc="35">
                <a:latin typeface="Times New Roman"/>
                <a:cs typeface="Times New Roman"/>
              </a:rPr>
              <a:t> </a:t>
            </a:r>
            <a:r>
              <a:rPr sz="1550">
                <a:latin typeface="Times New Roman"/>
                <a:cs typeface="Times New Roman"/>
              </a:rPr>
              <a:t>Vijaya</a:t>
            </a:r>
            <a:r>
              <a:rPr sz="1550" spc="70">
                <a:latin typeface="Times New Roman"/>
                <a:cs typeface="Times New Roman"/>
              </a:rPr>
              <a:t> </a:t>
            </a:r>
            <a:r>
              <a:rPr sz="1550">
                <a:latin typeface="Times New Roman"/>
                <a:cs typeface="Times New Roman"/>
              </a:rPr>
              <a:t>-</a:t>
            </a:r>
            <a:r>
              <a:rPr sz="1550" spc="70">
                <a:latin typeface="Times New Roman"/>
                <a:cs typeface="Times New Roman"/>
              </a:rPr>
              <a:t> </a:t>
            </a:r>
            <a:r>
              <a:rPr sz="1550" spc="-10">
                <a:latin typeface="Times New Roman"/>
                <a:cs typeface="Times New Roman"/>
              </a:rPr>
              <a:t>23BD1A1203</a:t>
            </a:r>
            <a:endParaRPr sz="1550">
              <a:latin typeface="Times New Roman"/>
              <a:cs typeface="Times New Roman"/>
            </a:endParaRPr>
          </a:p>
          <a:p>
            <a:pPr marL="2326640" algn="ctr">
              <a:lnSpc>
                <a:spcPts val="1725"/>
              </a:lnSpc>
            </a:pPr>
            <a:r>
              <a:rPr sz="1550">
                <a:latin typeface="Times New Roman"/>
                <a:cs typeface="Times New Roman"/>
              </a:rPr>
              <a:t>B</a:t>
            </a:r>
            <a:r>
              <a:rPr sz="1550" spc="85">
                <a:latin typeface="Times New Roman"/>
                <a:cs typeface="Times New Roman"/>
              </a:rPr>
              <a:t> </a:t>
            </a:r>
            <a:r>
              <a:rPr sz="1550">
                <a:latin typeface="Times New Roman"/>
                <a:cs typeface="Times New Roman"/>
              </a:rPr>
              <a:t>Aditya</a:t>
            </a:r>
            <a:r>
              <a:rPr sz="1550" spc="55">
                <a:latin typeface="Times New Roman"/>
                <a:cs typeface="Times New Roman"/>
              </a:rPr>
              <a:t> </a:t>
            </a:r>
            <a:r>
              <a:rPr sz="1550">
                <a:latin typeface="Times New Roman"/>
                <a:cs typeface="Times New Roman"/>
              </a:rPr>
              <a:t>-</a:t>
            </a:r>
            <a:r>
              <a:rPr sz="1550" spc="45">
                <a:latin typeface="Times New Roman"/>
                <a:cs typeface="Times New Roman"/>
              </a:rPr>
              <a:t> </a:t>
            </a:r>
            <a:r>
              <a:rPr sz="1550" spc="-10">
                <a:latin typeface="Times New Roman"/>
                <a:cs typeface="Times New Roman"/>
              </a:rPr>
              <a:t>23BD1A1212</a:t>
            </a:r>
            <a:endParaRPr sz="1550">
              <a:latin typeface="Times New Roman"/>
              <a:cs typeface="Times New Roman"/>
            </a:endParaRPr>
          </a:p>
          <a:p>
            <a:pPr marL="2326640" algn="ctr">
              <a:lnSpc>
                <a:spcPts val="1725"/>
              </a:lnSpc>
            </a:pPr>
            <a:r>
              <a:rPr sz="1550">
                <a:latin typeface="Times New Roman"/>
                <a:cs typeface="Times New Roman"/>
              </a:rPr>
              <a:t>K</a:t>
            </a:r>
            <a:r>
              <a:rPr sz="1550" spc="114">
                <a:latin typeface="Times New Roman"/>
                <a:cs typeface="Times New Roman"/>
              </a:rPr>
              <a:t> </a:t>
            </a:r>
            <a:r>
              <a:rPr sz="1550">
                <a:latin typeface="Times New Roman"/>
                <a:cs typeface="Times New Roman"/>
              </a:rPr>
              <a:t>Abhignya</a:t>
            </a:r>
            <a:r>
              <a:rPr sz="1550" spc="105">
                <a:latin typeface="Times New Roman"/>
                <a:cs typeface="Times New Roman"/>
              </a:rPr>
              <a:t> </a:t>
            </a:r>
            <a:r>
              <a:rPr sz="1550">
                <a:latin typeface="Times New Roman"/>
                <a:cs typeface="Times New Roman"/>
              </a:rPr>
              <a:t>Shanthi</a:t>
            </a:r>
            <a:r>
              <a:rPr sz="1550" spc="55">
                <a:latin typeface="Times New Roman"/>
                <a:cs typeface="Times New Roman"/>
              </a:rPr>
              <a:t> </a:t>
            </a:r>
            <a:r>
              <a:rPr sz="1550">
                <a:latin typeface="Times New Roman"/>
                <a:cs typeface="Times New Roman"/>
              </a:rPr>
              <a:t>Durga</a:t>
            </a:r>
            <a:r>
              <a:rPr sz="1550" spc="110">
                <a:latin typeface="Times New Roman"/>
                <a:cs typeface="Times New Roman"/>
              </a:rPr>
              <a:t> </a:t>
            </a:r>
            <a:r>
              <a:rPr sz="1550">
                <a:latin typeface="Times New Roman"/>
                <a:cs typeface="Times New Roman"/>
              </a:rPr>
              <a:t>-</a:t>
            </a:r>
            <a:r>
              <a:rPr sz="1550" spc="95">
                <a:latin typeface="Times New Roman"/>
                <a:cs typeface="Times New Roman"/>
              </a:rPr>
              <a:t> </a:t>
            </a:r>
            <a:r>
              <a:rPr sz="1550" spc="-10">
                <a:latin typeface="Times New Roman"/>
                <a:cs typeface="Times New Roman"/>
              </a:rPr>
              <a:t>23BD1A1228</a:t>
            </a:r>
            <a:endParaRPr sz="1550">
              <a:latin typeface="Times New Roman"/>
              <a:cs typeface="Times New Roman"/>
            </a:endParaRPr>
          </a:p>
          <a:p>
            <a:pPr marL="2327275" algn="ctr">
              <a:lnSpc>
                <a:spcPts val="1795"/>
              </a:lnSpc>
            </a:pPr>
            <a:r>
              <a:rPr sz="1550">
                <a:latin typeface="Times New Roman"/>
                <a:cs typeface="Times New Roman"/>
              </a:rPr>
              <a:t>B</a:t>
            </a:r>
            <a:r>
              <a:rPr sz="1550" spc="95">
                <a:latin typeface="Times New Roman"/>
                <a:cs typeface="Times New Roman"/>
              </a:rPr>
              <a:t> </a:t>
            </a:r>
            <a:r>
              <a:rPr sz="1550">
                <a:latin typeface="Times New Roman"/>
                <a:cs typeface="Times New Roman"/>
              </a:rPr>
              <a:t>Pranathi</a:t>
            </a:r>
            <a:r>
              <a:rPr sz="1550" spc="70">
                <a:latin typeface="Times New Roman"/>
                <a:cs typeface="Times New Roman"/>
              </a:rPr>
              <a:t> </a:t>
            </a:r>
            <a:r>
              <a:rPr sz="1550">
                <a:latin typeface="Times New Roman"/>
                <a:cs typeface="Times New Roman"/>
              </a:rPr>
              <a:t>-</a:t>
            </a:r>
            <a:r>
              <a:rPr sz="1550" spc="60">
                <a:latin typeface="Times New Roman"/>
                <a:cs typeface="Times New Roman"/>
              </a:rPr>
              <a:t> </a:t>
            </a:r>
            <a:r>
              <a:rPr sz="1550" spc="-10">
                <a:latin typeface="Times New Roman"/>
                <a:cs typeface="Times New Roman"/>
              </a:rPr>
              <a:t>23BD1A1253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447E3-7617-84BA-C58C-CF3DAF7CEDA5}"/>
              </a:ext>
            </a:extLst>
          </p:cNvPr>
          <p:cNvSpPr txBox="1"/>
          <p:nvPr/>
        </p:nvSpPr>
        <p:spPr>
          <a:xfrm>
            <a:off x="2971800" y="2571749"/>
            <a:ext cx="236472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Ms. T N SriRanjani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567" y="1030922"/>
            <a:ext cx="8210550" cy="377571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129539">
              <a:lnSpc>
                <a:spcPct val="105400"/>
              </a:lnSpc>
              <a:spcBef>
                <a:spcPts val="5"/>
              </a:spcBef>
            </a:pPr>
            <a:r>
              <a:rPr sz="1500">
                <a:latin typeface="Arial MT"/>
                <a:cs typeface="Arial MT"/>
              </a:rPr>
              <a:t>The rapid</a:t>
            </a:r>
            <a:r>
              <a:rPr sz="1500" spc="-7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spread of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fake</a:t>
            </a:r>
            <a:r>
              <a:rPr sz="1500" spc="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news</a:t>
            </a:r>
            <a:r>
              <a:rPr sz="1500" spc="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across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digital</a:t>
            </a:r>
            <a:r>
              <a:rPr sz="1500" spc="-2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platforms</a:t>
            </a:r>
            <a:r>
              <a:rPr sz="1500" spc="-5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has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become a major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societal</a:t>
            </a:r>
            <a:r>
              <a:rPr sz="1500" spc="-2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concern, </a:t>
            </a:r>
            <a:r>
              <a:rPr sz="1500">
                <a:latin typeface="Arial MT"/>
                <a:cs typeface="Arial MT"/>
              </a:rPr>
              <a:t>influencing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public opinion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 spc="-20">
                <a:latin typeface="Arial MT"/>
                <a:cs typeface="Arial MT"/>
              </a:rPr>
              <a:t>decision-</a:t>
            </a:r>
            <a:r>
              <a:rPr sz="1500">
                <a:latin typeface="Arial MT"/>
                <a:cs typeface="Arial MT"/>
              </a:rPr>
              <a:t>making.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Existing</a:t>
            </a:r>
            <a:r>
              <a:rPr sz="1500" spc="-7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fake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news</a:t>
            </a:r>
            <a:r>
              <a:rPr sz="1500" spc="-7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detection</a:t>
            </a:r>
            <a:r>
              <a:rPr sz="1500" spc="-1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models</a:t>
            </a:r>
            <a:r>
              <a:rPr sz="1500" spc="-7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primarily </a:t>
            </a:r>
            <a:r>
              <a:rPr sz="1500">
                <a:latin typeface="Arial MT"/>
                <a:cs typeface="Arial MT"/>
              </a:rPr>
              <a:t>rely on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textual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analysis</a:t>
            </a:r>
            <a:r>
              <a:rPr sz="1500" spc="-6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or</a:t>
            </a:r>
            <a:r>
              <a:rPr sz="1500" spc="2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multimodal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content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understanding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but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often</a:t>
            </a:r>
            <a:r>
              <a:rPr sz="1500" spc="-8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fail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to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perform</a:t>
            </a:r>
            <a:r>
              <a:rPr sz="1500" spc="-5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logical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 spc="-20">
                <a:latin typeface="Arial MT"/>
                <a:cs typeface="Arial MT"/>
              </a:rPr>
              <a:t>fact </a:t>
            </a:r>
            <a:r>
              <a:rPr sz="1500">
                <a:latin typeface="Arial MT"/>
                <a:cs typeface="Arial MT"/>
              </a:rPr>
              <a:t>verification</a:t>
            </a:r>
            <a:r>
              <a:rPr sz="1500" spc="-7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-7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explain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their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decisions.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Recent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 spc="-25">
                <a:latin typeface="Arial MT"/>
                <a:cs typeface="Arial MT"/>
              </a:rPr>
              <a:t>Retrieval-</a:t>
            </a:r>
            <a:r>
              <a:rPr sz="1500">
                <a:latin typeface="Arial MT"/>
                <a:cs typeface="Arial MT"/>
              </a:rPr>
              <a:t>Augmented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Generation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(RAG)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based </a:t>
            </a:r>
            <a:r>
              <a:rPr sz="1500">
                <a:latin typeface="Arial MT"/>
                <a:cs typeface="Arial MT"/>
              </a:rPr>
              <a:t>systems</a:t>
            </a:r>
            <a:r>
              <a:rPr sz="1500" spc="-1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improve</a:t>
            </a:r>
            <a:r>
              <a:rPr sz="1500" spc="-1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verification</a:t>
            </a:r>
            <a:r>
              <a:rPr sz="1500" spc="-2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by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retrieving</a:t>
            </a:r>
            <a:r>
              <a:rPr sz="1500" spc="-2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external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evidence</a:t>
            </a:r>
            <a:r>
              <a:rPr sz="1500" spc="-8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before</a:t>
            </a:r>
            <a:r>
              <a:rPr sz="1500" spc="-1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making</a:t>
            </a:r>
            <a:r>
              <a:rPr sz="1500" spc="-2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predictions.</a:t>
            </a:r>
            <a:endParaRPr sz="1500">
              <a:latin typeface="Arial MT"/>
              <a:cs typeface="Arial MT"/>
            </a:endParaRPr>
          </a:p>
          <a:p>
            <a:pPr marL="12700" marR="1061085">
              <a:lnSpc>
                <a:spcPct val="104299"/>
              </a:lnSpc>
            </a:pPr>
            <a:r>
              <a:rPr sz="1500">
                <a:latin typeface="Arial MT"/>
                <a:cs typeface="Arial MT"/>
              </a:rPr>
              <a:t>However,</a:t>
            </a:r>
            <a:r>
              <a:rPr sz="1500" spc="-5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these</a:t>
            </a:r>
            <a:r>
              <a:rPr sz="1500" spc="-2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systems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treat</a:t>
            </a:r>
            <a:r>
              <a:rPr sz="1500" spc="-5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retrieved</a:t>
            </a:r>
            <a:r>
              <a:rPr sz="1500" spc="-2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documents</a:t>
            </a:r>
            <a:r>
              <a:rPr sz="1500" spc="-8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independently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-2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fail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to</a:t>
            </a:r>
            <a:r>
              <a:rPr sz="1500" spc="-2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capture </a:t>
            </a:r>
            <a:r>
              <a:rPr sz="1500">
                <a:latin typeface="Arial MT"/>
                <a:cs typeface="Arial MT"/>
              </a:rPr>
              <a:t>relationships</a:t>
            </a:r>
            <a:r>
              <a:rPr sz="1500" spc="-7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among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entities,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events,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-10">
                <a:latin typeface="Arial MT"/>
                <a:cs typeface="Arial MT"/>
              </a:rPr>
              <a:t> evidence.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105500"/>
              </a:lnSpc>
              <a:spcBef>
                <a:spcPts val="1185"/>
              </a:spcBef>
            </a:pPr>
            <a:r>
              <a:rPr sz="1500">
                <a:latin typeface="Arial MT"/>
                <a:cs typeface="Arial MT"/>
              </a:rPr>
              <a:t>This</a:t>
            </a:r>
            <a:r>
              <a:rPr sz="1500" spc="-7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project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proposes</a:t>
            </a:r>
            <a:r>
              <a:rPr sz="1500" spc="-7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</a:t>
            </a:r>
            <a:r>
              <a:rPr sz="1500" spc="-70">
                <a:latin typeface="Arial MT"/>
                <a:cs typeface="Arial MT"/>
              </a:rPr>
              <a:t> </a:t>
            </a:r>
            <a:r>
              <a:rPr sz="1500" b="1">
                <a:latin typeface="Arial"/>
                <a:cs typeface="Arial"/>
              </a:rPr>
              <a:t>Multimodal</a:t>
            </a:r>
            <a:r>
              <a:rPr sz="1500" b="1" spc="-45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Fake</a:t>
            </a:r>
            <a:r>
              <a:rPr sz="1500" b="1" spc="-15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News</a:t>
            </a:r>
            <a:r>
              <a:rPr sz="1500" b="1" spc="-15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Detection</a:t>
            </a:r>
            <a:r>
              <a:rPr sz="1500" b="1" spc="-25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System</a:t>
            </a:r>
            <a:r>
              <a:rPr sz="1500" b="1" spc="-10">
                <a:latin typeface="Arial"/>
                <a:cs typeface="Arial"/>
              </a:rPr>
              <a:t> </a:t>
            </a:r>
            <a:r>
              <a:rPr sz="1500">
                <a:latin typeface="Arial MT"/>
                <a:cs typeface="Arial MT"/>
              </a:rPr>
              <a:t>that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combines</a:t>
            </a:r>
            <a:r>
              <a:rPr sz="1500" spc="-70">
                <a:latin typeface="Arial MT"/>
                <a:cs typeface="Arial MT"/>
              </a:rPr>
              <a:t> </a:t>
            </a:r>
            <a:r>
              <a:rPr sz="1500" b="1" spc="-10">
                <a:latin typeface="Arial"/>
                <a:cs typeface="Arial"/>
              </a:rPr>
              <a:t>Retrieval-</a:t>
            </a:r>
            <a:r>
              <a:rPr sz="1500" b="1">
                <a:latin typeface="Arial"/>
                <a:cs typeface="Arial"/>
              </a:rPr>
              <a:t>Augmented</a:t>
            </a:r>
            <a:r>
              <a:rPr sz="1500" b="1" spc="-35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Generation</a:t>
            </a:r>
            <a:r>
              <a:rPr sz="1500" b="1" spc="-35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(RAG)</a:t>
            </a:r>
            <a:r>
              <a:rPr sz="1500">
                <a:latin typeface="Arial MT"/>
                <a:cs typeface="Arial MT"/>
              </a:rPr>
              <a:t>,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 b="1">
                <a:latin typeface="Arial"/>
                <a:cs typeface="Arial"/>
              </a:rPr>
              <a:t>Knowledge</a:t>
            </a:r>
            <a:r>
              <a:rPr sz="1500" b="1" spc="-30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Graphs</a:t>
            </a:r>
            <a:r>
              <a:rPr sz="1500" b="1" spc="-30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(KG)</a:t>
            </a:r>
            <a:r>
              <a:rPr sz="1500">
                <a:latin typeface="Arial MT"/>
                <a:cs typeface="Arial MT"/>
              </a:rPr>
              <a:t>,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 b="1">
                <a:latin typeface="Arial"/>
                <a:cs typeface="Arial"/>
              </a:rPr>
              <a:t>Graph</a:t>
            </a:r>
            <a:r>
              <a:rPr sz="1500" b="1" spc="-100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Neural</a:t>
            </a:r>
            <a:r>
              <a:rPr sz="1500" b="1" spc="-55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Networks</a:t>
            </a:r>
            <a:r>
              <a:rPr sz="1500" b="1" spc="-30">
                <a:latin typeface="Arial"/>
                <a:cs typeface="Arial"/>
              </a:rPr>
              <a:t> </a:t>
            </a:r>
            <a:r>
              <a:rPr sz="1500" b="1" spc="-10">
                <a:latin typeface="Arial"/>
                <a:cs typeface="Arial"/>
              </a:rPr>
              <a:t>(GNNs)</a:t>
            </a:r>
            <a:r>
              <a:rPr sz="1500" spc="-10">
                <a:latin typeface="Arial MT"/>
                <a:cs typeface="Arial MT"/>
              </a:rPr>
              <a:t>,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-25">
                <a:latin typeface="Arial MT"/>
                <a:cs typeface="Arial MT"/>
              </a:rPr>
              <a:t> </a:t>
            </a:r>
            <a:r>
              <a:rPr sz="1500" b="1">
                <a:latin typeface="Arial"/>
                <a:cs typeface="Arial"/>
              </a:rPr>
              <a:t>Large</a:t>
            </a:r>
            <a:r>
              <a:rPr sz="1500" b="1" spc="-30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Language</a:t>
            </a:r>
            <a:r>
              <a:rPr sz="1500" b="1" spc="-30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Models</a:t>
            </a:r>
            <a:r>
              <a:rPr sz="1500" b="1" spc="-90">
                <a:latin typeface="Arial"/>
                <a:cs typeface="Arial"/>
              </a:rPr>
              <a:t> </a:t>
            </a:r>
            <a:r>
              <a:rPr sz="1500" b="1">
                <a:latin typeface="Arial"/>
                <a:cs typeface="Arial"/>
              </a:rPr>
              <a:t>(LLMs)</a:t>
            </a:r>
            <a:r>
              <a:rPr sz="1500" b="1" spc="-15">
                <a:latin typeface="Arial"/>
                <a:cs typeface="Arial"/>
              </a:rPr>
              <a:t> </a:t>
            </a:r>
            <a:r>
              <a:rPr sz="1500">
                <a:latin typeface="Arial MT"/>
                <a:cs typeface="Arial MT"/>
              </a:rPr>
              <a:t>to</a:t>
            </a:r>
            <a:r>
              <a:rPr sz="1500" spc="-9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perform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explainable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-2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accurate</a:t>
            </a:r>
            <a:r>
              <a:rPr sz="1500" spc="-9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fake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news</a:t>
            </a:r>
            <a:r>
              <a:rPr sz="1500" spc="-2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detection. </a:t>
            </a:r>
            <a:r>
              <a:rPr sz="1500">
                <a:latin typeface="Arial MT"/>
                <a:cs typeface="Arial MT"/>
              </a:rPr>
              <a:t>The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system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retrieves</a:t>
            </a:r>
            <a:r>
              <a:rPr sz="1500" spc="-6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evidence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from</a:t>
            </a:r>
            <a:r>
              <a:rPr sz="1500" spc="2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trusted</a:t>
            </a:r>
            <a:r>
              <a:rPr sz="1500" spc="-7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sources,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constructs</a:t>
            </a:r>
            <a:r>
              <a:rPr sz="1500" spc="-7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knowledge</a:t>
            </a:r>
            <a:r>
              <a:rPr sz="1500" spc="-7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graph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representing </a:t>
            </a:r>
            <a:r>
              <a:rPr sz="1500">
                <a:latin typeface="Arial MT"/>
                <a:cs typeface="Arial MT"/>
              </a:rPr>
              <a:t>relationships</a:t>
            </a:r>
            <a:r>
              <a:rPr sz="1500" spc="-7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among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claims</a:t>
            </a:r>
            <a:r>
              <a:rPr sz="1500" spc="-6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-7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retrieved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evidence,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applies</a:t>
            </a:r>
            <a:r>
              <a:rPr sz="1500" spc="-6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Graph</a:t>
            </a:r>
            <a:r>
              <a:rPr sz="1500" spc="-7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Attention</a:t>
            </a:r>
            <a:r>
              <a:rPr sz="1500" spc="-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Network</a:t>
            </a:r>
            <a:r>
              <a:rPr sz="1500" spc="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(GAT)</a:t>
            </a:r>
            <a:r>
              <a:rPr sz="1500" spc="20">
                <a:latin typeface="Arial MT"/>
                <a:cs typeface="Arial MT"/>
              </a:rPr>
              <a:t> </a:t>
            </a:r>
            <a:r>
              <a:rPr sz="1500" spc="-25">
                <a:latin typeface="Arial MT"/>
                <a:cs typeface="Arial MT"/>
              </a:rPr>
              <a:t>to </a:t>
            </a:r>
            <a:r>
              <a:rPr sz="1500">
                <a:latin typeface="Arial MT"/>
                <a:cs typeface="Arial MT"/>
              </a:rPr>
              <a:t>learn</a:t>
            </a:r>
            <a:r>
              <a:rPr sz="1500" spc="-6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contextual</a:t>
            </a:r>
            <a:r>
              <a:rPr sz="1500" spc="-1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relationships,</a:t>
            </a:r>
            <a:r>
              <a:rPr sz="1500" spc="-1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finally</a:t>
            </a:r>
            <a:r>
              <a:rPr sz="1500" spc="2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uses</a:t>
            </a:r>
            <a:r>
              <a:rPr sz="1500" spc="-5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LLM</a:t>
            </a:r>
            <a:r>
              <a:rPr sz="1500" spc="-3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for</a:t>
            </a:r>
            <a:r>
              <a:rPr sz="1500" spc="4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reasoning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-6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explanation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generation. </a:t>
            </a:r>
            <a:r>
              <a:rPr sz="1500">
                <a:latin typeface="Arial MT"/>
                <a:cs typeface="Arial MT"/>
              </a:rPr>
              <a:t>The</a:t>
            </a:r>
            <a:r>
              <a:rPr sz="1500" spc="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proposed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model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aims</a:t>
            </a:r>
            <a:r>
              <a:rPr sz="1500" spc="-5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to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improve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classification</a:t>
            </a:r>
            <a:r>
              <a:rPr sz="1500" spc="-6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accuracy,</a:t>
            </a:r>
            <a:r>
              <a:rPr sz="1500" spc="-1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explainability,</a:t>
            </a:r>
            <a:r>
              <a:rPr sz="1500" spc="-2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and</a:t>
            </a:r>
            <a:r>
              <a:rPr sz="1500" spc="15">
                <a:latin typeface="Arial MT"/>
                <a:cs typeface="Arial MT"/>
              </a:rPr>
              <a:t> </a:t>
            </a:r>
            <a:r>
              <a:rPr sz="1500" spc="-40">
                <a:latin typeface="Arial MT"/>
                <a:cs typeface="Arial MT"/>
              </a:rPr>
              <a:t>real-</a:t>
            </a:r>
            <a:r>
              <a:rPr sz="1500" spc="-20">
                <a:latin typeface="Arial MT"/>
                <a:cs typeface="Arial MT"/>
              </a:rPr>
              <a:t>time </a:t>
            </a:r>
            <a:r>
              <a:rPr sz="1500">
                <a:latin typeface="Arial MT"/>
                <a:cs typeface="Arial MT"/>
              </a:rPr>
              <a:t>verification</a:t>
            </a:r>
            <a:r>
              <a:rPr sz="1500" spc="-5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capabilities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over</a:t>
            </a:r>
            <a:r>
              <a:rPr sz="1500" spc="-1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existing</a:t>
            </a:r>
            <a:r>
              <a:rPr sz="1500" spc="-5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approaches.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737" y="-6985"/>
            <a:ext cx="25031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/>
              <a:t>Literature</a:t>
            </a:r>
            <a:r>
              <a:rPr sz="2750" spc="140"/>
              <a:t> </a:t>
            </a:r>
            <a:r>
              <a:rPr sz="2750" spc="-10"/>
              <a:t>Survey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312737" y="4508500"/>
            <a:ext cx="8168640" cy="46482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80"/>
              </a:spcBef>
            </a:pPr>
            <a:r>
              <a:rPr sz="1500" b="1">
                <a:latin typeface="Calibri"/>
                <a:cs typeface="Calibri"/>
              </a:rPr>
              <a:t>Research</a:t>
            </a:r>
            <a:r>
              <a:rPr sz="1500" b="1" spc="-35">
                <a:latin typeface="Calibri"/>
                <a:cs typeface="Calibri"/>
              </a:rPr>
              <a:t> </a:t>
            </a:r>
            <a:r>
              <a:rPr sz="1500" b="1">
                <a:latin typeface="Calibri"/>
                <a:cs typeface="Calibri"/>
              </a:rPr>
              <a:t>gap:</a:t>
            </a:r>
            <a:r>
              <a:rPr sz="1500" b="1" spc="-5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Existing</a:t>
            </a:r>
            <a:r>
              <a:rPr sz="1500" spc="-2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methods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either</a:t>
            </a:r>
            <a:r>
              <a:rPr sz="1500" spc="1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perform</a:t>
            </a:r>
            <a:r>
              <a:rPr sz="1500" spc="-5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graph-based</a:t>
            </a:r>
            <a:r>
              <a:rPr sz="1500" spc="-2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classification</a:t>
            </a:r>
            <a:r>
              <a:rPr sz="1500" spc="-2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or</a:t>
            </a:r>
            <a:r>
              <a:rPr sz="1500" spc="2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evidence-</a:t>
            </a:r>
            <a:r>
              <a:rPr sz="1500">
                <a:latin typeface="Calibri"/>
                <a:cs typeface="Calibri"/>
              </a:rPr>
              <a:t>based</a:t>
            </a:r>
            <a:r>
              <a:rPr sz="1500" spc="-2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verification. </a:t>
            </a:r>
            <a:r>
              <a:rPr sz="1500">
                <a:latin typeface="Calibri"/>
                <a:cs typeface="Calibri"/>
              </a:rPr>
              <a:t>The</a:t>
            </a:r>
            <a:r>
              <a:rPr sz="1500" spc="1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proposed</a:t>
            </a:r>
            <a:r>
              <a:rPr sz="1500" spc="-2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system</a:t>
            </a:r>
            <a:r>
              <a:rPr sz="1500" spc="-5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integrates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GAT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with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RAG</a:t>
            </a:r>
            <a:r>
              <a:rPr sz="1500" spc="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and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LLM</a:t>
            </a:r>
            <a:r>
              <a:rPr sz="1500" spc="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for</a:t>
            </a:r>
            <a:r>
              <a:rPr sz="1500" spc="-5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accurate,</a:t>
            </a:r>
            <a:r>
              <a:rPr sz="1500" spc="1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explainable</a:t>
            </a:r>
            <a:r>
              <a:rPr sz="1500" spc="-5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fake</a:t>
            </a:r>
            <a:r>
              <a:rPr sz="1500" spc="2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news</a:t>
            </a:r>
            <a:r>
              <a:rPr sz="1500" spc="-4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detection.</a:t>
            </a:r>
            <a:endParaRPr sz="15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0" y="519048"/>
          <a:ext cx="9144000" cy="3998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950" b="1" spc="-10">
                          <a:latin typeface="Arial"/>
                          <a:cs typeface="Arial"/>
                        </a:rPr>
                        <a:t>Paper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950" b="1" spc="-10">
                          <a:latin typeface="Arial"/>
                          <a:cs typeface="Arial"/>
                        </a:rPr>
                        <a:t>Method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950" b="1">
                          <a:latin typeface="Arial"/>
                          <a:cs typeface="Arial"/>
                        </a:rPr>
                        <a:t>Key</a:t>
                      </a:r>
                      <a:r>
                        <a:rPr sz="950" b="1" spc="80"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spc="-10">
                          <a:latin typeface="Arial"/>
                          <a:cs typeface="Arial"/>
                        </a:rPr>
                        <a:t>limitation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3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91440" marR="498475">
                        <a:lnSpc>
                          <a:spcPct val="120300"/>
                        </a:lnSpc>
                        <a:spcBef>
                          <a:spcPts val="530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BERT-based</a:t>
                      </a:r>
                      <a:r>
                        <a:rPr sz="125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fake</a:t>
                      </a:r>
                      <a:r>
                        <a:rPr sz="1250" spc="20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news</a:t>
                      </a:r>
                      <a:r>
                        <a:rPr sz="125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detection (2023)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73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BERT</a:t>
                      </a:r>
                      <a:r>
                        <a:rPr sz="125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text</a:t>
                      </a:r>
                      <a:r>
                        <a:rPr sz="1250" spc="13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classification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60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No</a:t>
                      </a:r>
                      <a:r>
                        <a:rPr sz="125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external</a:t>
                      </a:r>
                      <a:r>
                        <a:rPr sz="1250" spc="16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evidence</a:t>
                      </a:r>
                      <a:r>
                        <a:rPr sz="125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verification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60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Graph-FakeNewsNet</a:t>
                      </a:r>
                      <a:r>
                        <a:rPr sz="1250" spc="29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(ECIR</a:t>
                      </a:r>
                      <a:r>
                        <a:rPr sz="1250" spc="229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>
                          <a:latin typeface="Arial MT"/>
                          <a:cs typeface="Arial MT"/>
                        </a:rPr>
                        <a:t>2023)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73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Graph</a:t>
                      </a:r>
                      <a:r>
                        <a:rPr sz="1250" spc="114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Attention</a:t>
                      </a:r>
                      <a:r>
                        <a:rPr sz="1250" spc="22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Network</a:t>
                      </a:r>
                      <a:r>
                        <a:rPr sz="125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>
                          <a:latin typeface="Arial MT"/>
                          <a:cs typeface="Arial MT"/>
                        </a:rPr>
                        <a:t>(GAT)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73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No</a:t>
                      </a:r>
                      <a:r>
                        <a:rPr sz="125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explainability</a:t>
                      </a:r>
                      <a:r>
                        <a:rPr sz="125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or</a:t>
                      </a:r>
                      <a:r>
                        <a:rPr sz="1250" spc="16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evidence</a:t>
                      </a:r>
                      <a:r>
                        <a:rPr sz="1250" spc="18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retrieval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73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91440" marR="571500">
                        <a:lnSpc>
                          <a:spcPct val="120100"/>
                        </a:lnSpc>
                        <a:spcBef>
                          <a:spcPts val="550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GNN-based</a:t>
                      </a:r>
                      <a:r>
                        <a:rPr sz="125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fake</a:t>
                      </a:r>
                      <a:r>
                        <a:rPr sz="1250" spc="19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news</a:t>
                      </a:r>
                      <a:r>
                        <a:rPr sz="1250" spc="9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detection (2024)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GCN</a:t>
                      </a:r>
                      <a:r>
                        <a:rPr sz="12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/</a:t>
                      </a:r>
                      <a:r>
                        <a:rPr sz="125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GAT</a:t>
                      </a:r>
                      <a:r>
                        <a:rPr sz="125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models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85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Limited</a:t>
                      </a:r>
                      <a:r>
                        <a:rPr sz="1250" spc="14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factual</a:t>
                      </a:r>
                      <a:r>
                        <a:rPr sz="1250" spc="114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reasoning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85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RAG-based</a:t>
                      </a:r>
                      <a:r>
                        <a:rPr sz="1250" spc="19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verification</a:t>
                      </a:r>
                      <a:r>
                        <a:rPr sz="1250" spc="19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(2025)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Retrieval-Augmented</a:t>
                      </a:r>
                      <a:r>
                        <a:rPr sz="1250" spc="39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Generation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No</a:t>
                      </a:r>
                      <a:r>
                        <a:rPr sz="1250" spc="13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graph-based</a:t>
                      </a:r>
                      <a:r>
                        <a:rPr sz="1250" spc="13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relationship</a:t>
                      </a:r>
                      <a:r>
                        <a:rPr sz="1250" spc="23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modeling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91440" marR="501650">
                        <a:lnSpc>
                          <a:spcPct val="120200"/>
                        </a:lnSpc>
                        <a:spcBef>
                          <a:spcPts val="565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Multimodal</a:t>
                      </a:r>
                      <a:r>
                        <a:rPr sz="1250" spc="13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RAG</a:t>
                      </a:r>
                      <a:r>
                        <a:rPr sz="125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+</a:t>
                      </a:r>
                      <a:r>
                        <a:rPr sz="1250" spc="12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LLM</a:t>
                      </a:r>
                      <a:r>
                        <a:rPr sz="125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(Springer 2026)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RAG</a:t>
                      </a:r>
                      <a:r>
                        <a:rPr sz="12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+</a:t>
                      </a:r>
                      <a:r>
                        <a:rPr sz="125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5">
                          <a:latin typeface="Arial MT"/>
                          <a:cs typeface="Arial MT"/>
                        </a:rPr>
                        <a:t>LLM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No</a:t>
                      </a:r>
                      <a:r>
                        <a:rPr sz="125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integration</a:t>
                      </a:r>
                      <a:r>
                        <a:rPr sz="125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250" spc="18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graph</a:t>
                      </a:r>
                      <a:r>
                        <a:rPr sz="125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reasoning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Proposed</a:t>
                      </a:r>
                      <a:r>
                        <a:rPr sz="1250" spc="17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system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117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GAT</a:t>
                      </a:r>
                      <a:r>
                        <a:rPr sz="125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+</a:t>
                      </a:r>
                      <a:r>
                        <a:rPr sz="125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RAG</a:t>
                      </a:r>
                      <a:r>
                        <a:rPr sz="12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+</a:t>
                      </a:r>
                      <a:r>
                        <a:rPr sz="125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5">
                          <a:latin typeface="Arial MT"/>
                          <a:cs typeface="Arial MT"/>
                        </a:rPr>
                        <a:t>LLM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117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Graph</a:t>
                      </a:r>
                      <a:r>
                        <a:rPr sz="125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learning</a:t>
                      </a:r>
                      <a:r>
                        <a:rPr sz="1250" spc="17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+</a:t>
                      </a:r>
                      <a:r>
                        <a:rPr sz="125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evidence</a:t>
                      </a:r>
                      <a:r>
                        <a:rPr sz="125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verification</a:t>
                      </a:r>
                      <a:endParaRPr sz="1250">
                        <a:latin typeface="Arial MT"/>
                        <a:cs typeface="Arial MT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50">
                          <a:latin typeface="Arial MT"/>
                          <a:cs typeface="Arial MT"/>
                        </a:rPr>
                        <a:t>+</a:t>
                      </a:r>
                      <a:r>
                        <a:rPr sz="125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>
                          <a:latin typeface="Arial MT"/>
                          <a:cs typeface="Arial MT"/>
                        </a:rPr>
                        <a:t>explainable</a:t>
                      </a:r>
                      <a:r>
                        <a:rPr sz="1250" spc="155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>
                          <a:latin typeface="Arial MT"/>
                          <a:cs typeface="Arial MT"/>
                        </a:rPr>
                        <a:t>prediction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117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Existing</a:t>
            </a:r>
            <a:r>
              <a:rPr spc="-20"/>
              <a:t> </a:t>
            </a:r>
            <a:r>
              <a:rPr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567" y="1065466"/>
            <a:ext cx="8188325" cy="3583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00"/>
              </a:lnSpc>
              <a:spcBef>
                <a:spcPts val="100"/>
              </a:spcBef>
            </a:pPr>
            <a:r>
              <a:rPr sz="1350">
                <a:latin typeface="Arial MT"/>
                <a:cs typeface="Arial MT"/>
              </a:rPr>
              <a:t>The</a:t>
            </a:r>
            <a:r>
              <a:rPr sz="1350" spc="100">
                <a:latin typeface="Arial MT"/>
                <a:cs typeface="Arial MT"/>
              </a:rPr>
              <a:t> </a:t>
            </a:r>
            <a:r>
              <a:rPr sz="1350">
                <a:latin typeface="Arial MT"/>
                <a:cs typeface="Arial MT"/>
              </a:rPr>
              <a:t>existing</a:t>
            </a:r>
            <a:r>
              <a:rPr sz="1350" spc="114">
                <a:latin typeface="Arial MT"/>
                <a:cs typeface="Arial MT"/>
              </a:rPr>
              <a:t> </a:t>
            </a:r>
            <a:r>
              <a:rPr sz="1350">
                <a:latin typeface="Arial MT"/>
                <a:cs typeface="Arial MT"/>
              </a:rPr>
              <a:t>fake</a:t>
            </a:r>
            <a:r>
              <a:rPr sz="1350" spc="114">
                <a:latin typeface="Arial MT"/>
                <a:cs typeface="Arial MT"/>
              </a:rPr>
              <a:t> </a:t>
            </a:r>
            <a:r>
              <a:rPr sz="1350">
                <a:latin typeface="Arial MT"/>
                <a:cs typeface="Arial MT"/>
              </a:rPr>
              <a:t>news</a:t>
            </a:r>
            <a:r>
              <a:rPr sz="1350" spc="210">
                <a:latin typeface="Arial MT"/>
                <a:cs typeface="Arial MT"/>
              </a:rPr>
              <a:t> </a:t>
            </a:r>
            <a:r>
              <a:rPr sz="1350">
                <a:latin typeface="Arial MT"/>
                <a:cs typeface="Arial MT"/>
              </a:rPr>
              <a:t>detection</a:t>
            </a:r>
            <a:r>
              <a:rPr sz="1350" spc="114">
                <a:latin typeface="Arial MT"/>
                <a:cs typeface="Arial MT"/>
              </a:rPr>
              <a:t> </a:t>
            </a:r>
            <a:r>
              <a:rPr sz="1350">
                <a:latin typeface="Arial MT"/>
                <a:cs typeface="Arial MT"/>
              </a:rPr>
              <a:t>system</a:t>
            </a:r>
            <a:r>
              <a:rPr sz="1350" spc="215">
                <a:latin typeface="Arial MT"/>
                <a:cs typeface="Arial MT"/>
              </a:rPr>
              <a:t> </a:t>
            </a:r>
            <a:r>
              <a:rPr sz="1350">
                <a:latin typeface="Arial MT"/>
                <a:cs typeface="Arial MT"/>
              </a:rPr>
              <a:t>uses</a:t>
            </a:r>
            <a:r>
              <a:rPr sz="1350" spc="15">
                <a:latin typeface="Arial MT"/>
                <a:cs typeface="Arial MT"/>
              </a:rPr>
              <a:t> </a:t>
            </a:r>
            <a:r>
              <a:rPr sz="1350" b="1">
                <a:latin typeface="Arial"/>
                <a:cs typeface="Arial"/>
              </a:rPr>
              <a:t>Retrieval-Augmented</a:t>
            </a:r>
            <a:r>
              <a:rPr sz="1350" b="1" spc="114">
                <a:latin typeface="Arial"/>
                <a:cs typeface="Arial"/>
              </a:rPr>
              <a:t> </a:t>
            </a:r>
            <a:r>
              <a:rPr sz="1350" b="1">
                <a:latin typeface="Arial"/>
                <a:cs typeface="Arial"/>
              </a:rPr>
              <a:t>Generation</a:t>
            </a:r>
            <a:r>
              <a:rPr sz="1350" b="1" spc="114">
                <a:latin typeface="Arial"/>
                <a:cs typeface="Arial"/>
              </a:rPr>
              <a:t> </a:t>
            </a:r>
            <a:r>
              <a:rPr sz="1350" b="1">
                <a:latin typeface="Arial"/>
                <a:cs typeface="Arial"/>
              </a:rPr>
              <a:t>(RAG)</a:t>
            </a:r>
            <a:r>
              <a:rPr sz="1350" b="1" spc="210">
                <a:latin typeface="Arial"/>
                <a:cs typeface="Arial"/>
              </a:rPr>
              <a:t> </a:t>
            </a:r>
            <a:r>
              <a:rPr sz="1350">
                <a:latin typeface="Arial MT"/>
                <a:cs typeface="Arial MT"/>
              </a:rPr>
              <a:t>integrated</a:t>
            </a:r>
            <a:r>
              <a:rPr sz="1350" spc="215">
                <a:latin typeface="Arial MT"/>
                <a:cs typeface="Arial MT"/>
              </a:rPr>
              <a:t> </a:t>
            </a:r>
            <a:r>
              <a:rPr sz="1350" spc="-20">
                <a:latin typeface="Arial MT"/>
                <a:cs typeface="Arial MT"/>
              </a:rPr>
              <a:t>with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ts val="1600"/>
              </a:lnSpc>
            </a:pPr>
            <a:r>
              <a:rPr sz="1350" b="1">
                <a:latin typeface="Arial"/>
                <a:cs typeface="Arial"/>
              </a:rPr>
              <a:t>Large</a:t>
            </a:r>
            <a:r>
              <a:rPr sz="1350" b="1" spc="165">
                <a:latin typeface="Arial"/>
                <a:cs typeface="Arial"/>
              </a:rPr>
              <a:t> </a:t>
            </a:r>
            <a:r>
              <a:rPr sz="1350" b="1">
                <a:latin typeface="Arial"/>
                <a:cs typeface="Arial"/>
              </a:rPr>
              <a:t>Language</a:t>
            </a:r>
            <a:r>
              <a:rPr sz="1350" b="1" spc="180">
                <a:latin typeface="Arial"/>
                <a:cs typeface="Arial"/>
              </a:rPr>
              <a:t> </a:t>
            </a:r>
            <a:r>
              <a:rPr sz="1350" b="1">
                <a:latin typeface="Arial"/>
                <a:cs typeface="Arial"/>
              </a:rPr>
              <a:t>Models</a:t>
            </a:r>
            <a:r>
              <a:rPr sz="1350" b="1" spc="180">
                <a:latin typeface="Arial"/>
                <a:cs typeface="Arial"/>
              </a:rPr>
              <a:t> </a:t>
            </a:r>
            <a:r>
              <a:rPr sz="1350" b="1">
                <a:latin typeface="Arial"/>
                <a:cs typeface="Arial"/>
              </a:rPr>
              <a:t>(LLMs)</a:t>
            </a:r>
            <a:r>
              <a:rPr sz="1350" b="1" spc="75">
                <a:latin typeface="Arial"/>
                <a:cs typeface="Arial"/>
              </a:rPr>
              <a:t> </a:t>
            </a:r>
            <a:r>
              <a:rPr sz="1350">
                <a:latin typeface="Arial MT"/>
                <a:cs typeface="Arial MT"/>
              </a:rPr>
              <a:t>for</a:t>
            </a:r>
            <a:r>
              <a:rPr sz="1350" spc="85">
                <a:latin typeface="Arial MT"/>
                <a:cs typeface="Arial MT"/>
              </a:rPr>
              <a:t> </a:t>
            </a:r>
            <a:r>
              <a:rPr sz="1350">
                <a:latin typeface="Arial MT"/>
                <a:cs typeface="Arial MT"/>
              </a:rPr>
              <a:t>multimodal</a:t>
            </a:r>
            <a:r>
              <a:rPr sz="1350" spc="180">
                <a:latin typeface="Arial MT"/>
                <a:cs typeface="Arial MT"/>
              </a:rPr>
              <a:t> </a:t>
            </a:r>
            <a:r>
              <a:rPr sz="1350">
                <a:latin typeface="Arial MT"/>
                <a:cs typeface="Arial MT"/>
              </a:rPr>
              <a:t>misinformation</a:t>
            </a:r>
            <a:r>
              <a:rPr sz="1350" spc="90">
                <a:latin typeface="Arial MT"/>
                <a:cs typeface="Arial MT"/>
              </a:rPr>
              <a:t> </a:t>
            </a:r>
            <a:r>
              <a:rPr sz="1350" spc="-10">
                <a:latin typeface="Arial MT"/>
                <a:cs typeface="Arial MT"/>
              </a:rPr>
              <a:t>detection.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550" b="1" spc="-10">
                <a:latin typeface="Arial"/>
                <a:cs typeface="Arial"/>
              </a:rPr>
              <a:t>Workflow</a:t>
            </a:r>
            <a:endParaRPr sz="1550">
              <a:latin typeface="Arial"/>
              <a:cs typeface="Arial"/>
            </a:endParaRPr>
          </a:p>
          <a:p>
            <a:pPr marL="469900" indent="-317500">
              <a:lnSpc>
                <a:spcPts val="1630"/>
              </a:lnSpc>
              <a:spcBef>
                <a:spcPts val="1145"/>
              </a:spcBef>
              <a:buChar char="●"/>
              <a:tabLst>
                <a:tab pos="469900" algn="l"/>
              </a:tabLst>
            </a:pPr>
            <a:r>
              <a:rPr sz="1400">
                <a:latin typeface="Arial MT"/>
                <a:cs typeface="Arial MT"/>
              </a:rPr>
              <a:t>Accepts</a:t>
            </a:r>
            <a:r>
              <a:rPr sz="1400" spc="25">
                <a:latin typeface="Arial MT"/>
                <a:cs typeface="Arial MT"/>
              </a:rPr>
              <a:t> </a:t>
            </a:r>
            <a:r>
              <a:rPr sz="1400" b="1">
                <a:latin typeface="Arial"/>
                <a:cs typeface="Arial"/>
              </a:rPr>
              <a:t>text</a:t>
            </a:r>
            <a:r>
              <a:rPr sz="1400" b="1" spc="50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and</a:t>
            </a:r>
            <a:r>
              <a:rPr sz="1400" b="1" spc="-5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image</a:t>
            </a:r>
            <a:r>
              <a:rPr sz="1400" b="1" spc="20"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as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input.</a:t>
            </a:r>
            <a:endParaRPr sz="1400">
              <a:latin typeface="Arial MT"/>
              <a:cs typeface="Arial MT"/>
            </a:endParaRPr>
          </a:p>
          <a:p>
            <a:pPr marL="469900" indent="-317500">
              <a:lnSpc>
                <a:spcPts val="1580"/>
              </a:lnSpc>
              <a:buChar char="●"/>
              <a:tabLst>
                <a:tab pos="469900" algn="l"/>
              </a:tabLst>
            </a:pPr>
            <a:r>
              <a:rPr sz="1400">
                <a:latin typeface="Arial MT"/>
                <a:cs typeface="Arial MT"/>
              </a:rPr>
              <a:t>Generates</a:t>
            </a:r>
            <a:r>
              <a:rPr sz="1400" spc="4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multimodal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embeddings</a:t>
            </a:r>
            <a:r>
              <a:rPr sz="1400" spc="4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using</a:t>
            </a:r>
            <a:r>
              <a:rPr sz="1400" spc="4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Vision-Language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Model.</a:t>
            </a:r>
            <a:endParaRPr sz="1400">
              <a:latin typeface="Arial MT"/>
              <a:cs typeface="Arial MT"/>
            </a:endParaRPr>
          </a:p>
          <a:p>
            <a:pPr marL="469900" indent="-317500">
              <a:lnSpc>
                <a:spcPts val="1614"/>
              </a:lnSpc>
              <a:buChar char="●"/>
              <a:tabLst>
                <a:tab pos="469900" algn="l"/>
              </a:tabLst>
            </a:pPr>
            <a:r>
              <a:rPr sz="1400">
                <a:latin typeface="Arial MT"/>
                <a:cs typeface="Arial MT"/>
              </a:rPr>
              <a:t>Retrieves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relevant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evidence</a:t>
            </a:r>
            <a:r>
              <a:rPr sz="1400" spc="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from</a:t>
            </a:r>
            <a:r>
              <a:rPr sz="1400" spc="-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trusted</a:t>
            </a:r>
            <a:r>
              <a:rPr sz="1400" spc="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sources</a:t>
            </a:r>
            <a:r>
              <a:rPr sz="1400" spc="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using</a:t>
            </a:r>
            <a:r>
              <a:rPr sz="1400" spc="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vector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database.</a:t>
            </a:r>
            <a:endParaRPr sz="1400">
              <a:latin typeface="Arial MT"/>
              <a:cs typeface="Arial MT"/>
            </a:endParaRPr>
          </a:p>
          <a:p>
            <a:pPr marL="469900" indent="-317500">
              <a:lnSpc>
                <a:spcPts val="1614"/>
              </a:lnSpc>
              <a:buChar char="●"/>
              <a:tabLst>
                <a:tab pos="469900" algn="l"/>
              </a:tabLst>
            </a:pPr>
            <a:r>
              <a:rPr sz="1400">
                <a:latin typeface="Arial MT"/>
                <a:cs typeface="Arial MT"/>
              </a:rPr>
              <a:t>Passes</a:t>
            </a:r>
            <a:r>
              <a:rPr sz="1400" spc="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retrieved</a:t>
            </a:r>
            <a:r>
              <a:rPr sz="1400" spc="-6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evidence</a:t>
            </a:r>
            <a:r>
              <a:rPr sz="1400" spc="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along</a:t>
            </a:r>
            <a:r>
              <a:rPr sz="1400" spc="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with the</a:t>
            </a:r>
            <a:r>
              <a:rPr sz="1400" spc="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claim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</a:t>
            </a:r>
            <a:r>
              <a:rPr sz="1400" spc="5">
                <a:latin typeface="Arial MT"/>
                <a:cs typeface="Arial MT"/>
              </a:rPr>
              <a:t> </a:t>
            </a:r>
            <a:r>
              <a:rPr sz="1400" spc="-20">
                <a:latin typeface="Arial MT"/>
                <a:cs typeface="Arial MT"/>
              </a:rPr>
              <a:t>LLM.</a:t>
            </a:r>
            <a:endParaRPr sz="1400">
              <a:latin typeface="Arial MT"/>
              <a:cs typeface="Arial MT"/>
            </a:endParaRPr>
          </a:p>
          <a:p>
            <a:pPr marL="469900" indent="-317500">
              <a:lnSpc>
                <a:spcPts val="1630"/>
              </a:lnSpc>
              <a:buChar char="●"/>
              <a:tabLst>
                <a:tab pos="469900" algn="l"/>
              </a:tabLst>
            </a:pPr>
            <a:r>
              <a:rPr sz="1400">
                <a:latin typeface="Arial MT"/>
                <a:cs typeface="Arial MT"/>
              </a:rPr>
              <a:t>The</a:t>
            </a:r>
            <a:r>
              <a:rPr sz="1400" spc="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LLM</a:t>
            </a:r>
            <a:r>
              <a:rPr sz="1400" spc="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classifies</a:t>
            </a:r>
            <a:r>
              <a:rPr sz="1400" spc="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news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as </a:t>
            </a:r>
            <a:r>
              <a:rPr sz="1400" b="1">
                <a:latin typeface="Arial"/>
                <a:cs typeface="Arial"/>
              </a:rPr>
              <a:t>Fake</a:t>
            </a:r>
            <a:r>
              <a:rPr sz="1400" b="1" spc="-30"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or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b="1">
                <a:latin typeface="Arial"/>
                <a:cs typeface="Arial"/>
              </a:rPr>
              <a:t>Real</a:t>
            </a:r>
            <a:r>
              <a:rPr sz="1400" b="1" spc="-35"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and</a:t>
            </a:r>
            <a:r>
              <a:rPr sz="1400" spc="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generates</a:t>
            </a:r>
            <a:r>
              <a:rPr sz="1400" spc="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textual</a:t>
            </a:r>
            <a:r>
              <a:rPr sz="1400" spc="6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explanation.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550" b="1">
                <a:latin typeface="Arial"/>
                <a:cs typeface="Arial"/>
              </a:rPr>
              <a:t>Technologies</a:t>
            </a:r>
            <a:r>
              <a:rPr sz="1550" b="1" spc="-5">
                <a:latin typeface="Arial"/>
                <a:cs typeface="Arial"/>
              </a:rPr>
              <a:t> </a:t>
            </a:r>
            <a:r>
              <a:rPr sz="1550" b="1" spc="-20">
                <a:latin typeface="Arial"/>
                <a:cs typeface="Arial"/>
              </a:rPr>
              <a:t>Used</a:t>
            </a:r>
            <a:endParaRPr sz="1550">
              <a:latin typeface="Arial"/>
              <a:cs typeface="Arial"/>
            </a:endParaRPr>
          </a:p>
          <a:p>
            <a:pPr marL="469900" indent="-317500">
              <a:lnSpc>
                <a:spcPts val="1630"/>
              </a:lnSpc>
              <a:spcBef>
                <a:spcPts val="1150"/>
              </a:spcBef>
              <a:buChar char="●"/>
              <a:tabLst>
                <a:tab pos="469900" algn="l"/>
              </a:tabLst>
            </a:pPr>
            <a:r>
              <a:rPr sz="1400" spc="-10">
                <a:latin typeface="Arial MT"/>
                <a:cs typeface="Arial MT"/>
              </a:rPr>
              <a:t>Retrieval-</a:t>
            </a:r>
            <a:r>
              <a:rPr sz="1400">
                <a:latin typeface="Arial MT"/>
                <a:cs typeface="Arial MT"/>
              </a:rPr>
              <a:t>Augmented</a:t>
            </a:r>
            <a:r>
              <a:rPr sz="1400" spc="9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Generation</a:t>
            </a:r>
            <a:r>
              <a:rPr sz="1400" spc="100">
                <a:latin typeface="Arial MT"/>
                <a:cs typeface="Arial MT"/>
              </a:rPr>
              <a:t> </a:t>
            </a:r>
            <a:r>
              <a:rPr sz="1400" spc="-20">
                <a:latin typeface="Arial MT"/>
                <a:cs typeface="Arial MT"/>
              </a:rPr>
              <a:t>(RAG)</a:t>
            </a:r>
            <a:endParaRPr sz="1400">
              <a:latin typeface="Arial MT"/>
              <a:cs typeface="Arial MT"/>
            </a:endParaRPr>
          </a:p>
          <a:p>
            <a:pPr marL="469900" indent="-317500">
              <a:lnSpc>
                <a:spcPts val="1575"/>
              </a:lnSpc>
              <a:buChar char="●"/>
              <a:tabLst>
                <a:tab pos="469900" algn="l"/>
              </a:tabLst>
            </a:pPr>
            <a:r>
              <a:rPr sz="1400">
                <a:latin typeface="Arial MT"/>
                <a:cs typeface="Arial MT"/>
              </a:rPr>
              <a:t>Large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Language</a:t>
            </a:r>
            <a:r>
              <a:rPr sz="1400" spc="6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Models</a:t>
            </a:r>
            <a:r>
              <a:rPr sz="1400" spc="-10">
                <a:latin typeface="Arial MT"/>
                <a:cs typeface="Arial MT"/>
              </a:rPr>
              <a:t> (LLMs)</a:t>
            </a:r>
            <a:endParaRPr sz="1400">
              <a:latin typeface="Arial MT"/>
              <a:cs typeface="Arial MT"/>
            </a:endParaRPr>
          </a:p>
          <a:p>
            <a:pPr marL="469900" indent="-317500">
              <a:lnSpc>
                <a:spcPts val="1614"/>
              </a:lnSpc>
              <a:buChar char="●"/>
              <a:tabLst>
                <a:tab pos="469900" algn="l"/>
              </a:tabLst>
            </a:pPr>
            <a:r>
              <a:rPr sz="1400" spc="-10">
                <a:latin typeface="Arial MT"/>
                <a:cs typeface="Arial MT"/>
              </a:rPr>
              <a:t>Vision-</a:t>
            </a:r>
            <a:r>
              <a:rPr sz="1400">
                <a:latin typeface="Arial MT"/>
                <a:cs typeface="Arial MT"/>
              </a:rPr>
              <a:t>Language</a:t>
            </a:r>
            <a:r>
              <a:rPr sz="1400" spc="6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Models</a:t>
            </a:r>
            <a:r>
              <a:rPr sz="1400" spc="6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(Qwen2-</a:t>
            </a:r>
            <a:r>
              <a:rPr sz="1400" spc="-10">
                <a:latin typeface="Arial MT"/>
                <a:cs typeface="Arial MT"/>
              </a:rPr>
              <a:t>VL/LLaVA)</a:t>
            </a:r>
            <a:endParaRPr sz="1400">
              <a:latin typeface="Arial MT"/>
              <a:cs typeface="Arial MT"/>
            </a:endParaRPr>
          </a:p>
          <a:p>
            <a:pPr marL="469900" indent="-317500">
              <a:lnSpc>
                <a:spcPts val="1614"/>
              </a:lnSpc>
              <a:buChar char="●"/>
              <a:tabLst>
                <a:tab pos="469900" algn="l"/>
              </a:tabLst>
            </a:pPr>
            <a:r>
              <a:rPr sz="1400">
                <a:latin typeface="Arial MT"/>
                <a:cs typeface="Arial MT"/>
              </a:rPr>
              <a:t>Vector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Database</a:t>
            </a:r>
            <a:endParaRPr sz="1400">
              <a:latin typeface="Arial MT"/>
              <a:cs typeface="Arial MT"/>
            </a:endParaRPr>
          </a:p>
          <a:p>
            <a:pPr marL="469900" indent="-317500">
              <a:lnSpc>
                <a:spcPts val="1630"/>
              </a:lnSpc>
              <a:buChar char="●"/>
              <a:tabLst>
                <a:tab pos="469900" algn="l"/>
              </a:tabLst>
            </a:pPr>
            <a:r>
              <a:rPr sz="1400">
                <a:latin typeface="Arial MT"/>
                <a:cs typeface="Arial MT"/>
              </a:rPr>
              <a:t>Multimodal</a:t>
            </a:r>
            <a:r>
              <a:rPr sz="1400" spc="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Embeddings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Disadvantages</a:t>
            </a:r>
            <a:r>
              <a:rPr spc="-90"/>
              <a:t> </a:t>
            </a:r>
            <a:r>
              <a:t>of</a:t>
            </a:r>
            <a:r>
              <a:rPr spc="-40"/>
              <a:t> </a:t>
            </a:r>
            <a:r>
              <a:t>Existing</a:t>
            </a:r>
            <a:r>
              <a:rPr spc="-60"/>
              <a:t> </a:t>
            </a:r>
            <a:r>
              <a:rPr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184" y="1199705"/>
            <a:ext cx="7986395" cy="325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90855" indent="-343535">
              <a:lnSpc>
                <a:spcPct val="1322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1800">
                <a:latin typeface="Arial MT"/>
                <a:cs typeface="Arial MT"/>
              </a:rPr>
              <a:t>Retrieved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documents</a:t>
            </a:r>
            <a:r>
              <a:rPr sz="1800" spc="-7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are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processed</a:t>
            </a:r>
            <a:r>
              <a:rPr sz="1800" spc="15">
                <a:latin typeface="Arial MT"/>
                <a:cs typeface="Arial MT"/>
              </a:rPr>
              <a:t> </a:t>
            </a:r>
            <a:r>
              <a:rPr sz="1800" b="1">
                <a:latin typeface="Arial"/>
                <a:cs typeface="Arial"/>
              </a:rPr>
              <a:t>independently</a:t>
            </a:r>
            <a:r>
              <a:rPr sz="1800">
                <a:latin typeface="Arial MT"/>
                <a:cs typeface="Arial MT"/>
              </a:rPr>
              <a:t>,</a:t>
            </a:r>
            <a:r>
              <a:rPr sz="1800" spc="-4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without</a:t>
            </a:r>
            <a:r>
              <a:rPr sz="1800" spc="-45">
                <a:latin typeface="Arial MT"/>
                <a:cs typeface="Arial MT"/>
              </a:rPr>
              <a:t> </a:t>
            </a:r>
            <a:r>
              <a:rPr sz="1800" spc="-10">
                <a:latin typeface="Arial MT"/>
                <a:cs typeface="Arial MT"/>
              </a:rPr>
              <a:t>modeling relationships.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Char char="•"/>
              <a:tabLst>
                <a:tab pos="355600" algn="l"/>
              </a:tabLst>
            </a:pPr>
            <a:r>
              <a:rPr sz="1800">
                <a:latin typeface="Arial MT"/>
                <a:cs typeface="Arial MT"/>
              </a:rPr>
              <a:t>Does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not use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 b="1">
                <a:latin typeface="Arial"/>
                <a:cs typeface="Arial"/>
              </a:rPr>
              <a:t>Knowledge</a:t>
            </a:r>
            <a:r>
              <a:rPr sz="1800" b="1" spc="-45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Graphs</a:t>
            </a:r>
            <a:r>
              <a:rPr sz="1800" b="1" spc="10">
                <a:latin typeface="Arial"/>
                <a:cs typeface="Arial"/>
              </a:rPr>
              <a:t> </a:t>
            </a:r>
            <a:r>
              <a:rPr sz="1800">
                <a:latin typeface="Arial MT"/>
                <a:cs typeface="Arial MT"/>
              </a:rPr>
              <a:t>for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structured</a:t>
            </a:r>
            <a:r>
              <a:rPr sz="1800" spc="-4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representation</a:t>
            </a:r>
            <a:r>
              <a:rPr sz="1800" spc="-4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of </a:t>
            </a:r>
            <a:r>
              <a:rPr sz="1800" spc="-10">
                <a:latin typeface="Arial MT"/>
                <a:cs typeface="Arial MT"/>
              </a:rPr>
              <a:t>entities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625"/>
              </a:spcBef>
            </a:pPr>
            <a:r>
              <a:rPr sz="1800">
                <a:latin typeface="Arial MT"/>
                <a:cs typeface="Arial MT"/>
              </a:rPr>
              <a:t>and </a:t>
            </a:r>
            <a:r>
              <a:rPr sz="1800" spc="-10">
                <a:latin typeface="Arial MT"/>
                <a:cs typeface="Arial MT"/>
              </a:rPr>
              <a:t>events.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5600" algn="l"/>
              </a:tabLst>
            </a:pPr>
            <a:r>
              <a:rPr sz="1800">
                <a:latin typeface="Arial MT"/>
                <a:cs typeface="Arial MT"/>
              </a:rPr>
              <a:t>Lacks</a:t>
            </a:r>
            <a:r>
              <a:rPr sz="1800" spc="-55">
                <a:latin typeface="Arial MT"/>
                <a:cs typeface="Arial MT"/>
              </a:rPr>
              <a:t> </a:t>
            </a:r>
            <a:r>
              <a:rPr sz="1800" b="1" spc="-10">
                <a:latin typeface="Arial"/>
                <a:cs typeface="Arial"/>
              </a:rPr>
              <a:t>graph-</a:t>
            </a:r>
            <a:r>
              <a:rPr sz="1800" b="1">
                <a:latin typeface="Arial"/>
                <a:cs typeface="Arial"/>
              </a:rPr>
              <a:t>based</a:t>
            </a:r>
            <a:r>
              <a:rPr sz="1800" b="1" spc="-40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reasoning</a:t>
            </a:r>
            <a:r>
              <a:rPr sz="1800" b="1" spc="-25">
                <a:latin typeface="Arial"/>
                <a:cs typeface="Arial"/>
              </a:rPr>
              <a:t> </a:t>
            </a:r>
            <a:r>
              <a:rPr sz="1800">
                <a:latin typeface="Arial MT"/>
                <a:cs typeface="Arial MT"/>
              </a:rPr>
              <a:t>between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claims</a:t>
            </a:r>
            <a:r>
              <a:rPr sz="1800" spc="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and</a:t>
            </a:r>
            <a:r>
              <a:rPr sz="1800" spc="-20">
                <a:latin typeface="Arial MT"/>
                <a:cs typeface="Arial MT"/>
              </a:rPr>
              <a:t> </a:t>
            </a:r>
            <a:r>
              <a:rPr sz="1800" spc="-10">
                <a:latin typeface="Arial MT"/>
                <a:cs typeface="Arial MT"/>
              </a:rPr>
              <a:t>evidence.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har char="•"/>
              <a:tabLst>
                <a:tab pos="355600" algn="l"/>
              </a:tabLst>
            </a:pPr>
            <a:r>
              <a:rPr sz="1800">
                <a:latin typeface="Arial MT"/>
                <a:cs typeface="Arial MT"/>
              </a:rPr>
              <a:t>Explanations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are</a:t>
            </a:r>
            <a:r>
              <a:rPr sz="1800" spc="-3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generated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by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the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LLM</a:t>
            </a:r>
            <a:r>
              <a:rPr sz="1800" spc="-7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but</a:t>
            </a:r>
            <a:r>
              <a:rPr sz="1800" spc="-5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do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not</a:t>
            </a:r>
            <a:r>
              <a:rPr sz="1800" spc="2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provide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explicit</a:t>
            </a:r>
            <a:r>
              <a:rPr sz="1800" spc="-50">
                <a:latin typeface="Arial MT"/>
                <a:cs typeface="Arial MT"/>
              </a:rPr>
              <a:t> </a:t>
            </a:r>
            <a:r>
              <a:rPr sz="1800" spc="-10">
                <a:latin typeface="Arial MT"/>
                <a:cs typeface="Arial MT"/>
              </a:rPr>
              <a:t>evidence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700"/>
              </a:spcBef>
            </a:pPr>
            <a:r>
              <a:rPr sz="1800" spc="-10">
                <a:latin typeface="Arial MT"/>
                <a:cs typeface="Arial MT"/>
              </a:rPr>
              <a:t>paths.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har char="•"/>
              <a:tabLst>
                <a:tab pos="355600" algn="l"/>
              </a:tabLst>
            </a:pPr>
            <a:r>
              <a:rPr sz="1800">
                <a:latin typeface="Arial MT"/>
                <a:cs typeface="Arial MT"/>
              </a:rPr>
              <a:t>No</a:t>
            </a:r>
            <a:r>
              <a:rPr sz="1800" spc="-5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reusable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knowledge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structure,</a:t>
            </a:r>
            <a:r>
              <a:rPr sz="1800" spc="-6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requiring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fresh</a:t>
            </a:r>
            <a:r>
              <a:rPr sz="1800" spc="-4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retrieval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for</a:t>
            </a:r>
            <a:r>
              <a:rPr sz="1800" spc="-1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every</a:t>
            </a:r>
            <a:r>
              <a:rPr sz="1800" spc="-10">
                <a:latin typeface="Arial MT"/>
                <a:cs typeface="Arial MT"/>
              </a:rPr>
              <a:t> query.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95"/>
              </a:spcBef>
              <a:buChar char="•"/>
              <a:tabLst>
                <a:tab pos="355600" algn="l"/>
              </a:tabLst>
            </a:pPr>
            <a:r>
              <a:rPr sz="1800">
                <a:latin typeface="Arial MT"/>
                <a:cs typeface="Arial MT"/>
              </a:rPr>
              <a:t>Performance</a:t>
            </a:r>
            <a:r>
              <a:rPr sz="1800" spc="-4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depends heavily</a:t>
            </a:r>
            <a:r>
              <a:rPr sz="1800" spc="-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on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the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quality</a:t>
            </a:r>
            <a:r>
              <a:rPr sz="1800" spc="-7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of</a:t>
            </a:r>
            <a:r>
              <a:rPr sz="1800" spc="-5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retrieved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 spc="-10">
                <a:latin typeface="Arial MT"/>
                <a:cs typeface="Arial MT"/>
              </a:rPr>
              <a:t>documents.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372F80-0E73-E0B4-8482-7D37FA7A3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7E6154B-D92E-3C41-F26F-B4AF559458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289" y="40322"/>
            <a:ext cx="302895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>
                <a:latin typeface="Arial MT"/>
                <a:cs typeface="Arial MT"/>
              </a:rPr>
              <a:t>Proposed</a:t>
            </a:r>
            <a:r>
              <a:rPr sz="3000" spc="-85">
                <a:latin typeface="Arial MT"/>
                <a:cs typeface="Arial MT"/>
              </a:rPr>
              <a:t> </a:t>
            </a:r>
            <a:r>
              <a:rPr sz="3000" spc="-10">
                <a:latin typeface="Arial MT"/>
                <a:cs typeface="Arial MT"/>
              </a:rPr>
              <a:t>System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19CFB03-EE29-2103-CA52-D3289F08E3D2}"/>
              </a:ext>
            </a:extLst>
          </p:cNvPr>
          <p:cNvSpPr txBox="1"/>
          <p:nvPr/>
        </p:nvSpPr>
        <p:spPr>
          <a:xfrm>
            <a:off x="2814954" y="1616519"/>
            <a:ext cx="4237990" cy="61722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350"/>
              </a:spcBef>
              <a:buChar char="●"/>
              <a:tabLst>
                <a:tab pos="311150" algn="l"/>
              </a:tabLst>
            </a:pP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Accepts</a:t>
            </a:r>
            <a:r>
              <a:rPr lang="en-US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news</a:t>
            </a:r>
            <a:r>
              <a:rPr lang="en-US" sz="1100" b="1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text</a:t>
            </a:r>
            <a:r>
              <a:rPr lang="en-US" sz="1100" b="1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lang="en-US" sz="1100" b="1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images</a:t>
            </a:r>
            <a:r>
              <a:rPr lang="en-US" sz="1100" b="1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lang="en-US" sz="11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spc="-10">
                <a:solidFill>
                  <a:srgbClr val="FFFFFF"/>
                </a:solidFill>
                <a:latin typeface="Arial MT"/>
                <a:cs typeface="Arial MT"/>
              </a:rPr>
              <a:t>input.</a:t>
            </a:r>
            <a:endParaRPr lang="en-US" sz="1100">
              <a:latin typeface="Arial MT"/>
              <a:cs typeface="Arial MT"/>
            </a:endParaRPr>
          </a:p>
          <a:p>
            <a:pPr marL="311150" marR="5080" indent="-299085">
              <a:lnSpc>
                <a:spcPct val="113900"/>
              </a:lnSpc>
              <a:spcBef>
                <a:spcPts val="75"/>
              </a:spcBef>
              <a:buChar char="●"/>
              <a:tabLst>
                <a:tab pos="311150" algn="l"/>
              </a:tabLst>
            </a:pP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Uses</a:t>
            </a:r>
            <a:r>
              <a:rPr lang="en-US" sz="11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BERT</a:t>
            </a:r>
            <a:r>
              <a:rPr lang="en-US" sz="1100" b="1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lang="en-US" sz="11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text</a:t>
            </a:r>
            <a:r>
              <a:rPr lang="en-US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embeddings</a:t>
            </a:r>
            <a:r>
              <a:rPr lang="en-US" sz="11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lang="en-US" sz="11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lang="en-US" sz="11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Vision</a:t>
            </a:r>
            <a:r>
              <a:rPr lang="en-US" sz="1100" b="1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lang="en-US" sz="1100" b="1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lang="en-US" sz="11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spc="-10">
                <a:solidFill>
                  <a:srgbClr val="FFFFFF"/>
                </a:solidFill>
                <a:latin typeface="Arial MT"/>
                <a:cs typeface="Arial MT"/>
              </a:rPr>
              <a:t>image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feature</a:t>
            </a:r>
            <a:r>
              <a:rPr lang="en-US" sz="11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spc="-10">
                <a:solidFill>
                  <a:srgbClr val="FFFFFF"/>
                </a:solidFill>
                <a:latin typeface="Arial MT"/>
                <a:cs typeface="Arial MT"/>
              </a:rPr>
              <a:t>extraction.</a:t>
            </a:r>
            <a:endParaRPr lang="en-US" sz="1100">
              <a:latin typeface="Arial MT"/>
              <a:cs typeface="Arial MT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A255D6D-1E6D-88B1-DC21-6ECFD72EC7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350"/>
              </a:spcBef>
              <a:buChar char="●"/>
              <a:tabLst>
                <a:tab pos="311150" algn="l"/>
              </a:tabLst>
            </a:pPr>
            <a:r>
              <a:rPr lang="en-US"/>
              <a:t>Extracts</a:t>
            </a:r>
            <a:r>
              <a:rPr lang="en-US" spc="-50"/>
              <a:t> </a:t>
            </a:r>
            <a:r>
              <a:rPr lang="en-US"/>
              <a:t>entities</a:t>
            </a:r>
            <a:r>
              <a:rPr lang="en-US" spc="-50"/>
              <a:t> </a:t>
            </a:r>
            <a:r>
              <a:rPr lang="en-US"/>
              <a:t>and</a:t>
            </a:r>
            <a:r>
              <a:rPr lang="en-US" spc="-45"/>
              <a:t> </a:t>
            </a:r>
            <a:r>
              <a:rPr lang="en-US"/>
              <a:t>constructs</a:t>
            </a:r>
            <a:r>
              <a:rPr lang="en-US" spc="20"/>
              <a:t> </a:t>
            </a:r>
            <a:r>
              <a:rPr lang="en-US"/>
              <a:t>a</a:t>
            </a:r>
            <a:r>
              <a:rPr lang="en-US" spc="-45"/>
              <a:t> </a:t>
            </a:r>
            <a:r>
              <a:rPr lang="en-US" b="1">
                <a:latin typeface="Arial"/>
                <a:cs typeface="Arial"/>
              </a:rPr>
              <a:t>Knowledge</a:t>
            </a:r>
            <a:r>
              <a:rPr lang="en-US" b="1" spc="-40">
                <a:latin typeface="Arial"/>
                <a:cs typeface="Arial"/>
              </a:rPr>
              <a:t> </a:t>
            </a:r>
            <a:r>
              <a:rPr lang="en-US" b="1" spc="-10">
                <a:latin typeface="Arial"/>
                <a:cs typeface="Arial"/>
              </a:rPr>
              <a:t>Graph</a:t>
            </a:r>
            <a:r>
              <a:rPr lang="en-US" spc="-10"/>
              <a:t>.</a:t>
            </a:r>
          </a:p>
          <a:p>
            <a:pPr marL="311150" marR="5080" indent="-299085">
              <a:lnSpc>
                <a:spcPct val="113900"/>
              </a:lnSpc>
              <a:spcBef>
                <a:spcPts val="75"/>
              </a:spcBef>
              <a:buChar char="●"/>
              <a:tabLst>
                <a:tab pos="311150" algn="l"/>
              </a:tabLst>
            </a:pPr>
            <a:r>
              <a:rPr lang="en-US"/>
              <a:t>A</a:t>
            </a:r>
            <a:r>
              <a:rPr lang="en-US" spc="-25"/>
              <a:t> </a:t>
            </a:r>
            <a:r>
              <a:rPr lang="en-US" b="1">
                <a:latin typeface="Arial"/>
                <a:cs typeface="Arial"/>
              </a:rPr>
              <a:t>Graph</a:t>
            </a:r>
            <a:r>
              <a:rPr lang="en-US" b="1" spc="-15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Attention</a:t>
            </a:r>
            <a:r>
              <a:rPr lang="en-US" b="1" spc="-15">
                <a:latin typeface="Arial"/>
                <a:cs typeface="Arial"/>
              </a:rPr>
              <a:t> </a:t>
            </a:r>
            <a:r>
              <a:rPr lang="en-US" b="1" spc="-10">
                <a:latin typeface="Arial"/>
                <a:cs typeface="Arial"/>
              </a:rPr>
              <a:t>Network</a:t>
            </a:r>
            <a:r>
              <a:rPr lang="en-US" b="1" spc="-30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(GAT)</a:t>
            </a:r>
            <a:r>
              <a:rPr lang="en-US" b="1" spc="-25">
                <a:latin typeface="Arial"/>
                <a:cs typeface="Arial"/>
              </a:rPr>
              <a:t> </a:t>
            </a:r>
            <a:r>
              <a:rPr lang="en-US"/>
              <a:t>learns</a:t>
            </a:r>
            <a:r>
              <a:rPr lang="en-US" spc="-40"/>
              <a:t> </a:t>
            </a:r>
            <a:r>
              <a:rPr lang="en-US"/>
              <a:t>semantic</a:t>
            </a:r>
            <a:r>
              <a:rPr lang="en-US" spc="30"/>
              <a:t> </a:t>
            </a:r>
            <a:r>
              <a:rPr lang="en-US" spc="-10"/>
              <a:t>relationships </a:t>
            </a:r>
            <a:r>
              <a:rPr lang="en-US"/>
              <a:t>between</a:t>
            </a:r>
            <a:r>
              <a:rPr lang="en-US" spc="10"/>
              <a:t> </a:t>
            </a:r>
            <a:r>
              <a:rPr lang="en-US"/>
              <a:t>nodes to</a:t>
            </a:r>
            <a:r>
              <a:rPr lang="en-US" spc="-60"/>
              <a:t> </a:t>
            </a:r>
            <a:r>
              <a:rPr lang="en-US"/>
              <a:t>predict</a:t>
            </a:r>
            <a:r>
              <a:rPr lang="en-US" spc="-40"/>
              <a:t> </a:t>
            </a:r>
            <a:r>
              <a:rPr lang="en-US"/>
              <a:t>news</a:t>
            </a:r>
            <a:r>
              <a:rPr lang="en-US" spc="-65"/>
              <a:t> </a:t>
            </a:r>
            <a:r>
              <a:rPr lang="en-US" spc="-10"/>
              <a:t>credibility.</a:t>
            </a:r>
          </a:p>
          <a:p>
            <a:pPr marL="311150" marR="97790" indent="-299085">
              <a:lnSpc>
                <a:spcPct val="113900"/>
              </a:lnSpc>
              <a:spcBef>
                <a:spcPts val="445"/>
              </a:spcBef>
              <a:buChar char="●"/>
              <a:tabLst>
                <a:tab pos="311150" algn="l"/>
              </a:tabLst>
            </a:pPr>
            <a:r>
              <a:rPr lang="en-US"/>
              <a:t>Retrieves</a:t>
            </a:r>
            <a:r>
              <a:rPr lang="en-US" spc="-55"/>
              <a:t> </a:t>
            </a:r>
            <a:r>
              <a:rPr lang="en-US"/>
              <a:t>relevant</a:t>
            </a:r>
            <a:r>
              <a:rPr lang="en-US" spc="-25"/>
              <a:t> </a:t>
            </a:r>
            <a:r>
              <a:rPr lang="en-US"/>
              <a:t>evidence</a:t>
            </a:r>
            <a:r>
              <a:rPr lang="en-US" spc="-40"/>
              <a:t> </a:t>
            </a:r>
            <a:r>
              <a:rPr lang="en-US"/>
              <a:t>from</a:t>
            </a:r>
            <a:r>
              <a:rPr lang="en-US" spc="-25"/>
              <a:t> </a:t>
            </a:r>
            <a:r>
              <a:rPr lang="en-US" b="1">
                <a:latin typeface="Arial"/>
                <a:cs typeface="Arial"/>
              </a:rPr>
              <a:t>trusted</a:t>
            </a:r>
            <a:r>
              <a:rPr lang="en-US" b="1" spc="-25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sources</a:t>
            </a:r>
            <a:r>
              <a:rPr lang="en-US" b="1" spc="-35">
                <a:latin typeface="Arial"/>
                <a:cs typeface="Arial"/>
              </a:rPr>
              <a:t> </a:t>
            </a:r>
            <a:r>
              <a:rPr lang="en-US"/>
              <a:t>using</a:t>
            </a:r>
            <a:r>
              <a:rPr lang="en-US" spc="-25"/>
              <a:t> </a:t>
            </a:r>
            <a:r>
              <a:rPr lang="en-US" b="1" spc="-10">
                <a:latin typeface="Arial"/>
                <a:cs typeface="Arial"/>
              </a:rPr>
              <a:t>FAISS </a:t>
            </a:r>
            <a:r>
              <a:rPr lang="en-US" b="1">
                <a:latin typeface="Arial"/>
                <a:cs typeface="Arial"/>
              </a:rPr>
              <a:t>Vector</a:t>
            </a:r>
            <a:r>
              <a:rPr lang="en-US" b="1" spc="-25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Database</a:t>
            </a:r>
            <a:r>
              <a:rPr lang="en-US" b="1" spc="-40">
                <a:latin typeface="Arial"/>
                <a:cs typeface="Arial"/>
              </a:rPr>
              <a:t> </a:t>
            </a:r>
            <a:r>
              <a:rPr lang="en-US"/>
              <a:t>and</a:t>
            </a:r>
            <a:r>
              <a:rPr lang="en-US" spc="-20"/>
              <a:t> </a:t>
            </a:r>
            <a:r>
              <a:rPr lang="en-US" b="1" spc="-20">
                <a:latin typeface="Arial"/>
                <a:cs typeface="Arial"/>
              </a:rPr>
              <a:t>RAG</a:t>
            </a:r>
            <a:r>
              <a:rPr lang="en-US" spc="-20"/>
              <a:t>.</a:t>
            </a:r>
          </a:p>
          <a:p>
            <a:pPr marL="311150" indent="-298450">
              <a:lnSpc>
                <a:spcPct val="100000"/>
              </a:lnSpc>
              <a:spcBef>
                <a:spcPts val="254"/>
              </a:spcBef>
              <a:buChar char="●"/>
              <a:tabLst>
                <a:tab pos="311150" algn="l"/>
              </a:tabLst>
            </a:pPr>
            <a:r>
              <a:rPr lang="en-US"/>
              <a:t>Provides</a:t>
            </a:r>
            <a:r>
              <a:rPr lang="en-US" spc="-45"/>
              <a:t> </a:t>
            </a:r>
            <a:r>
              <a:rPr lang="en-US"/>
              <a:t>factual</a:t>
            </a:r>
            <a:r>
              <a:rPr lang="en-US" spc="-30"/>
              <a:t> </a:t>
            </a:r>
            <a:r>
              <a:rPr lang="en-US"/>
              <a:t>context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30"/>
              <a:t> </a:t>
            </a:r>
            <a:r>
              <a:rPr lang="en-US"/>
              <a:t>support</a:t>
            </a:r>
            <a:r>
              <a:rPr lang="en-US" spc="-15"/>
              <a:t> </a:t>
            </a:r>
            <a:r>
              <a:rPr lang="en-US"/>
              <a:t>or</a:t>
            </a:r>
            <a:r>
              <a:rPr lang="en-US" spc="-10"/>
              <a:t> contradict</a:t>
            </a:r>
            <a:r>
              <a:rPr lang="en-US" spc="-15"/>
              <a:t> </a:t>
            </a:r>
            <a:r>
              <a:rPr lang="en-US"/>
              <a:t>the</a:t>
            </a:r>
            <a:r>
              <a:rPr lang="en-US" spc="-30"/>
              <a:t> </a:t>
            </a:r>
            <a:r>
              <a:rPr lang="en-US"/>
              <a:t>news</a:t>
            </a:r>
            <a:r>
              <a:rPr lang="en-US" spc="25"/>
              <a:t> </a:t>
            </a:r>
            <a:r>
              <a:rPr lang="en-US" spc="-10"/>
              <a:t>claim.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88285A3-D4A3-C9F5-764F-6C31C7F1AA98}"/>
              </a:ext>
            </a:extLst>
          </p:cNvPr>
          <p:cNvSpPr txBox="1"/>
          <p:nvPr/>
        </p:nvSpPr>
        <p:spPr>
          <a:xfrm>
            <a:off x="2814954" y="3824351"/>
            <a:ext cx="4443095" cy="61722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350"/>
              </a:spcBef>
              <a:buChar char="●"/>
              <a:tabLst>
                <a:tab pos="311150" algn="l"/>
              </a:tabLst>
            </a:pP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lang="en-US" sz="11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LLM</a:t>
            </a:r>
            <a:r>
              <a:rPr lang="en-US" sz="1100" b="1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combines</a:t>
            </a:r>
            <a:r>
              <a:rPr lang="en-US" sz="11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graph</a:t>
            </a:r>
            <a:r>
              <a:rPr lang="en-US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r>
              <a:rPr lang="en-US" sz="11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lang="en-US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retrieved</a:t>
            </a:r>
            <a:r>
              <a:rPr lang="en-US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spc="-10">
                <a:solidFill>
                  <a:srgbClr val="FFFFFF"/>
                </a:solidFill>
                <a:latin typeface="Arial MT"/>
                <a:cs typeface="Arial MT"/>
              </a:rPr>
              <a:t>evidence.</a:t>
            </a:r>
            <a:endParaRPr lang="en-US" sz="1100">
              <a:latin typeface="Arial MT"/>
              <a:cs typeface="Arial MT"/>
            </a:endParaRPr>
          </a:p>
          <a:p>
            <a:pPr marL="311150" marR="5080" indent="-299085">
              <a:lnSpc>
                <a:spcPct val="113799"/>
              </a:lnSpc>
              <a:spcBef>
                <a:spcPts val="75"/>
              </a:spcBef>
              <a:buChar char="●"/>
              <a:tabLst>
                <a:tab pos="311150" algn="l"/>
              </a:tabLst>
            </a:pPr>
            <a:r>
              <a:rPr lang="en-US" sz="1100" spc="-10">
                <a:solidFill>
                  <a:srgbClr val="FFFFFF"/>
                </a:solidFill>
                <a:latin typeface="Arial MT"/>
                <a:cs typeface="Arial MT"/>
              </a:rPr>
              <a:t>Generates</a:t>
            </a:r>
            <a:r>
              <a:rPr lang="en-US" sz="11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lang="en-US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final</a:t>
            </a:r>
            <a:r>
              <a:rPr lang="en-US" sz="11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Fake/Real</a:t>
            </a:r>
            <a:r>
              <a:rPr lang="en-US" sz="1100" b="1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prediction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lang="en-US" sz="11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confidence</a:t>
            </a:r>
            <a:r>
              <a:rPr lang="en-US" sz="1100" b="1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100" b="1" spc="-10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r>
              <a:rPr lang="en-US" sz="1100" spc="-1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lang="en-US" sz="11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lang="en-US" sz="110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lang="en-US" sz="11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explainable</a:t>
            </a:r>
            <a:r>
              <a:rPr lang="en-US" sz="1100" b="1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verification</a:t>
            </a:r>
            <a:r>
              <a:rPr lang="en-US" sz="1100" b="1" spc="-10">
                <a:solidFill>
                  <a:srgbClr val="FFFFFF"/>
                </a:solidFill>
                <a:latin typeface="Arial"/>
                <a:cs typeface="Arial"/>
              </a:rPr>
              <a:t> report</a:t>
            </a:r>
            <a:r>
              <a:rPr lang="en-US" sz="1100" spc="-1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lang="en-US" sz="1100">
              <a:latin typeface="Arial MT"/>
              <a:cs typeface="Arial MT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956CA9E-19D3-46C5-956D-07839AAD4D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4689026"/>
              </p:ext>
            </p:extLst>
          </p:nvPr>
        </p:nvGraphicFramePr>
        <p:xfrm>
          <a:off x="331237" y="1726909"/>
          <a:ext cx="8481525" cy="2987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9EDBDEF-93A8-D419-4048-3D89386C92B1}"/>
              </a:ext>
            </a:extLst>
          </p:cNvPr>
          <p:cNvSpPr txBox="1"/>
          <p:nvPr/>
        </p:nvSpPr>
        <p:spPr>
          <a:xfrm>
            <a:off x="304800" y="629733"/>
            <a:ext cx="8481525" cy="107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255904">
              <a:lnSpc>
                <a:spcPct val="90600"/>
              </a:lnSpc>
              <a:spcBef>
                <a:spcPts val="285"/>
              </a:spcBef>
            </a:pPr>
            <a:r>
              <a:rPr lang="en-US" sz="1400">
                <a:latin typeface="Arial "/>
                <a:cs typeface="Arial MT"/>
              </a:rPr>
              <a:t>The</a:t>
            </a:r>
            <a:r>
              <a:rPr lang="en-US" sz="1400" spc="-8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proposed</a:t>
            </a:r>
            <a:r>
              <a:rPr lang="en-US" sz="1400" spc="-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system</a:t>
            </a:r>
            <a:r>
              <a:rPr lang="en-US" sz="1400" spc="-2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combines GAT,</a:t>
            </a:r>
            <a:r>
              <a:rPr lang="en-US" sz="1400" spc="1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RAG,</a:t>
            </a:r>
            <a:r>
              <a:rPr lang="en-US" sz="1400" spc="-5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and</a:t>
            </a:r>
            <a:r>
              <a:rPr lang="en-US" sz="1400" spc="-1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LLMs</a:t>
            </a:r>
            <a:r>
              <a:rPr lang="en-US" sz="1400" spc="-7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for</a:t>
            </a:r>
            <a:r>
              <a:rPr lang="en-US" sz="1400" spc="-5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explainable</a:t>
            </a:r>
            <a:r>
              <a:rPr lang="en-US" sz="1400" spc="-8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fake</a:t>
            </a:r>
            <a:r>
              <a:rPr lang="en-US" sz="1400" spc="-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news</a:t>
            </a:r>
            <a:r>
              <a:rPr lang="en-US" sz="1400" spc="-7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detection.</a:t>
            </a:r>
            <a:r>
              <a:rPr lang="en-US" sz="1400" spc="-55">
                <a:latin typeface="Arial "/>
                <a:cs typeface="Arial MT"/>
              </a:rPr>
              <a:t> </a:t>
            </a:r>
            <a:r>
              <a:rPr lang="en-US" sz="1400" spc="-25">
                <a:latin typeface="Arial "/>
                <a:cs typeface="Arial MT"/>
              </a:rPr>
              <a:t>It</a:t>
            </a:r>
            <a:r>
              <a:rPr lang="en-US" sz="1400" spc="500">
                <a:latin typeface="Arial "/>
                <a:cs typeface="Arial MT"/>
              </a:rPr>
              <a:t>  </a:t>
            </a:r>
            <a:r>
              <a:rPr lang="en-US" sz="1400">
                <a:latin typeface="Arial "/>
                <a:cs typeface="Arial MT"/>
              </a:rPr>
              <a:t>extracts</a:t>
            </a:r>
            <a:r>
              <a:rPr lang="en-US" sz="1400" spc="-6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text</a:t>
            </a:r>
            <a:r>
              <a:rPr lang="en-US" sz="1400" spc="1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and</a:t>
            </a:r>
            <a:r>
              <a:rPr lang="en-US" sz="1400" spc="-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image features,</a:t>
            </a:r>
            <a:r>
              <a:rPr lang="en-US" sz="1400" spc="-5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constructs</a:t>
            </a:r>
            <a:r>
              <a:rPr lang="en-US" sz="1400" spc="-6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a</a:t>
            </a:r>
            <a:r>
              <a:rPr lang="en-US" sz="1400" spc="-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Knowledge Graph,</a:t>
            </a:r>
            <a:r>
              <a:rPr lang="en-US" sz="1400" spc="-5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and</a:t>
            </a:r>
            <a:r>
              <a:rPr lang="en-US" sz="1400" spc="-7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uses a</a:t>
            </a:r>
            <a:r>
              <a:rPr lang="en-US" sz="1400" spc="-7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Graph Attention</a:t>
            </a:r>
            <a:r>
              <a:rPr lang="en-US" sz="1400" spc="-5">
                <a:latin typeface="Arial "/>
                <a:cs typeface="Arial MT"/>
              </a:rPr>
              <a:t> </a:t>
            </a:r>
            <a:r>
              <a:rPr lang="en-US" sz="1400" spc="-10">
                <a:latin typeface="Arial "/>
                <a:cs typeface="Arial MT"/>
              </a:rPr>
              <a:t>Network</a:t>
            </a:r>
            <a:r>
              <a:rPr lang="en-US" sz="1400" spc="50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to</a:t>
            </a:r>
            <a:r>
              <a:rPr lang="en-US" sz="1400" spc="-1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learn</a:t>
            </a:r>
            <a:r>
              <a:rPr lang="en-US" sz="1400" spc="-8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relationships</a:t>
            </a:r>
            <a:r>
              <a:rPr lang="en-US" sz="1400" spc="-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among</a:t>
            </a:r>
            <a:r>
              <a:rPr lang="en-US" sz="1400" spc="-1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entities.</a:t>
            </a:r>
            <a:r>
              <a:rPr lang="en-US" sz="1400" spc="-5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RAG</a:t>
            </a:r>
            <a:r>
              <a:rPr lang="en-US" sz="1400" spc="-2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retrieves</a:t>
            </a:r>
            <a:r>
              <a:rPr lang="en-US" sz="1400" spc="-7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relevant</a:t>
            </a:r>
            <a:r>
              <a:rPr lang="en-US" sz="1400" spc="1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evidence</a:t>
            </a:r>
            <a:r>
              <a:rPr lang="en-US" sz="1400" spc="-8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from</a:t>
            </a:r>
            <a:r>
              <a:rPr lang="en-US" sz="1400" spc="-3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trusted</a:t>
            </a:r>
            <a:r>
              <a:rPr lang="en-US" sz="1400" spc="-1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sources,</a:t>
            </a:r>
            <a:r>
              <a:rPr lang="en-US" sz="1400" spc="-5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and</a:t>
            </a:r>
            <a:r>
              <a:rPr lang="en-US" sz="1400" spc="-80">
                <a:latin typeface="Arial "/>
                <a:cs typeface="Arial MT"/>
              </a:rPr>
              <a:t> </a:t>
            </a:r>
            <a:r>
              <a:rPr lang="en-US" sz="1400" spc="-25">
                <a:latin typeface="Arial "/>
                <a:cs typeface="Arial MT"/>
              </a:rPr>
              <a:t>the</a:t>
            </a:r>
            <a:r>
              <a:rPr lang="en-US" sz="1400" spc="50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LLM</a:t>
            </a:r>
            <a:r>
              <a:rPr lang="en-US" sz="1400" spc="-7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verifies</a:t>
            </a:r>
            <a:r>
              <a:rPr lang="en-US" sz="1400" spc="2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the</a:t>
            </a:r>
            <a:r>
              <a:rPr lang="en-US" sz="1400" spc="20">
                <a:latin typeface="Arial "/>
                <a:cs typeface="Arial MT"/>
              </a:rPr>
              <a:t> </a:t>
            </a:r>
            <a:r>
              <a:rPr lang="en-US" sz="1400" spc="-10">
                <a:latin typeface="Arial "/>
                <a:cs typeface="Arial MT"/>
              </a:rPr>
              <a:t>prediction</a:t>
            </a:r>
            <a:r>
              <a:rPr lang="en-US" sz="1400" spc="-5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to</a:t>
            </a:r>
            <a:r>
              <a:rPr lang="en-US" sz="1400" spc="-6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generate</a:t>
            </a:r>
            <a:r>
              <a:rPr lang="en-US" sz="1400" spc="2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a</a:t>
            </a:r>
            <a:r>
              <a:rPr lang="en-US" sz="1400" spc="-5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reliable</a:t>
            </a:r>
            <a:r>
              <a:rPr lang="en-US" sz="1400" spc="-5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Fake/Real</a:t>
            </a:r>
            <a:r>
              <a:rPr lang="en-US" sz="1400" spc="-3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classification</a:t>
            </a:r>
            <a:r>
              <a:rPr lang="en-US" sz="1400" spc="-5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with</a:t>
            </a:r>
            <a:r>
              <a:rPr lang="en-US" sz="1400" spc="-55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confidence</a:t>
            </a:r>
            <a:r>
              <a:rPr lang="en-US" sz="1400" spc="20">
                <a:latin typeface="Arial "/>
                <a:cs typeface="Arial MT"/>
              </a:rPr>
              <a:t> </a:t>
            </a:r>
            <a:r>
              <a:rPr lang="en-US" sz="1400">
                <a:latin typeface="Arial "/>
                <a:cs typeface="Arial MT"/>
              </a:rPr>
              <a:t>and</a:t>
            </a:r>
            <a:r>
              <a:rPr lang="en-US" sz="1400" spc="15">
                <a:latin typeface="Arial "/>
                <a:cs typeface="Arial MT"/>
              </a:rPr>
              <a:t> </a:t>
            </a:r>
            <a:r>
              <a:rPr lang="en-US" sz="1400" spc="-10">
                <a:latin typeface="Arial "/>
                <a:cs typeface="Arial MT"/>
              </a:rPr>
              <a:t>supporting evidence.</a:t>
            </a:r>
            <a:endParaRPr lang="en-US" sz="1400">
              <a:latin typeface="Arial 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27085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Advantages</a:t>
            </a:r>
            <a:r>
              <a:rPr spc="-85"/>
              <a:t> </a:t>
            </a:r>
            <a:r>
              <a:t>of</a:t>
            </a:r>
            <a:r>
              <a:rPr spc="-35"/>
              <a:t> </a:t>
            </a:r>
            <a:r>
              <a:t>Proposed</a:t>
            </a:r>
            <a:r>
              <a:rPr spc="-70"/>
              <a:t> </a:t>
            </a:r>
            <a:r>
              <a:rPr spc="-10"/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44" y="1313172"/>
            <a:ext cx="179128" cy="179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44" y="2294247"/>
            <a:ext cx="179128" cy="179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44" y="3275449"/>
            <a:ext cx="179128" cy="179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44" y="4256461"/>
            <a:ext cx="179128" cy="1792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6567" y="1208993"/>
            <a:ext cx="8153400" cy="354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7350" indent="246379">
              <a:lnSpc>
                <a:spcPct val="114300"/>
              </a:lnSpc>
              <a:spcBef>
                <a:spcPts val="100"/>
              </a:spcBef>
            </a:pPr>
            <a:r>
              <a:rPr sz="1800" b="1">
                <a:latin typeface="Arial"/>
                <a:cs typeface="Arial"/>
              </a:rPr>
              <a:t>Enhanced</a:t>
            </a:r>
            <a:r>
              <a:rPr sz="1800" b="1" spc="-30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Contextual</a:t>
            </a:r>
            <a:r>
              <a:rPr sz="1800" b="1" spc="-25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Understanding</a:t>
            </a:r>
            <a:r>
              <a:rPr sz="1800" b="1" spc="-25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:</a:t>
            </a:r>
            <a:r>
              <a:rPr sz="1800" b="1" spc="-10"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By</a:t>
            </a:r>
            <a:r>
              <a:rPr sz="1400" spc="-5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constructing</a:t>
            </a:r>
            <a:r>
              <a:rPr sz="1400" spc="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b="1" spc="-10">
                <a:latin typeface="Arial"/>
                <a:cs typeface="Arial"/>
              </a:rPr>
              <a:t>Knowledge</a:t>
            </a:r>
            <a:r>
              <a:rPr sz="1400" b="1" spc="-60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Graph</a:t>
            </a:r>
            <a:r>
              <a:rPr sz="1400">
                <a:latin typeface="Arial MT"/>
                <a:cs typeface="Arial MT"/>
              </a:rPr>
              <a:t>,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 spc="-25">
                <a:latin typeface="Arial MT"/>
                <a:cs typeface="Arial MT"/>
              </a:rPr>
              <a:t>the </a:t>
            </a:r>
            <a:r>
              <a:rPr sz="1400">
                <a:latin typeface="Arial MT"/>
                <a:cs typeface="Arial MT"/>
              </a:rPr>
              <a:t>system</a:t>
            </a:r>
            <a:r>
              <a:rPr sz="1400" spc="-8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captures</a:t>
            </a:r>
            <a:r>
              <a:rPr sz="1400" spc="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semantic</a:t>
            </a:r>
            <a:r>
              <a:rPr sz="1400" spc="-5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relationships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between</a:t>
            </a:r>
            <a:r>
              <a:rPr sz="1400" spc="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claims,</a:t>
            </a:r>
            <a:r>
              <a:rPr sz="1400" spc="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entities,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events,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and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evidence</a:t>
            </a:r>
            <a:r>
              <a:rPr sz="1400" spc="-5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instead</a:t>
            </a:r>
            <a:r>
              <a:rPr sz="1400" spc="-55">
                <a:latin typeface="Arial MT"/>
                <a:cs typeface="Arial MT"/>
              </a:rPr>
              <a:t> </a:t>
            </a:r>
            <a:r>
              <a:rPr sz="1400" spc="-25">
                <a:latin typeface="Arial MT"/>
                <a:cs typeface="Arial MT"/>
              </a:rPr>
              <a:t>of </a:t>
            </a:r>
            <a:r>
              <a:rPr sz="1400">
                <a:latin typeface="Arial MT"/>
                <a:cs typeface="Arial MT"/>
              </a:rPr>
              <a:t>analyzing documents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independently.</a:t>
            </a:r>
            <a:endParaRPr sz="1400">
              <a:latin typeface="Arial MT"/>
              <a:cs typeface="Arial MT"/>
            </a:endParaRPr>
          </a:p>
          <a:p>
            <a:pPr marL="12700" marR="34925" indent="246379" algn="just">
              <a:lnSpc>
                <a:spcPct val="114300"/>
              </a:lnSpc>
              <a:spcBef>
                <a:spcPts val="1370"/>
              </a:spcBef>
            </a:pPr>
            <a:r>
              <a:rPr sz="1800" b="1">
                <a:latin typeface="Arial"/>
                <a:cs typeface="Arial"/>
              </a:rPr>
              <a:t>Improved</a:t>
            </a:r>
            <a:r>
              <a:rPr sz="1800" b="1" spc="15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Detection</a:t>
            </a:r>
            <a:r>
              <a:rPr sz="1800" b="1" spc="20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Accuracy</a:t>
            </a:r>
            <a:r>
              <a:rPr sz="1800" b="1" spc="-30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:</a:t>
            </a:r>
            <a:r>
              <a:rPr sz="1800" b="1" spc="455"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 b="1">
                <a:latin typeface="Arial"/>
                <a:cs typeface="Arial"/>
              </a:rPr>
              <a:t>Graph</a:t>
            </a:r>
            <a:r>
              <a:rPr sz="1400" b="1" spc="-8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Attention</a:t>
            </a:r>
            <a:r>
              <a:rPr sz="1400" b="1" spc="-5">
                <a:latin typeface="Arial"/>
                <a:cs typeface="Arial"/>
              </a:rPr>
              <a:t> </a:t>
            </a:r>
            <a:r>
              <a:rPr sz="1400" b="1" spc="-10">
                <a:latin typeface="Arial"/>
                <a:cs typeface="Arial"/>
              </a:rPr>
              <a:t>Network</a:t>
            </a:r>
            <a:r>
              <a:rPr sz="1400" b="1" spc="-80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(GAT)</a:t>
            </a:r>
            <a:r>
              <a:rPr sz="1400" b="1" spc="-15"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learns </a:t>
            </a:r>
            <a:r>
              <a:rPr sz="1400" spc="-10">
                <a:latin typeface="Arial MT"/>
                <a:cs typeface="Arial MT"/>
              </a:rPr>
              <a:t>important </a:t>
            </a:r>
            <a:r>
              <a:rPr sz="1400">
                <a:latin typeface="Arial MT"/>
                <a:cs typeface="Arial MT"/>
              </a:rPr>
              <a:t>relationships among graph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nodes,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resulting in more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accurate fake news </a:t>
            </a:r>
            <a:r>
              <a:rPr sz="1400" spc="-10">
                <a:latin typeface="Arial MT"/>
                <a:cs typeface="Arial MT"/>
              </a:rPr>
              <a:t>classification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compared</a:t>
            </a:r>
            <a:r>
              <a:rPr sz="1400" spc="-6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 </a:t>
            </a:r>
            <a:r>
              <a:rPr sz="1400" spc="-10">
                <a:latin typeface="Arial MT"/>
                <a:cs typeface="Arial MT"/>
              </a:rPr>
              <a:t>text-</a:t>
            </a:r>
            <a:r>
              <a:rPr sz="1400">
                <a:latin typeface="Arial MT"/>
                <a:cs typeface="Arial MT"/>
              </a:rPr>
              <a:t>only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or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traditional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 spc="-25">
                <a:latin typeface="Arial MT"/>
                <a:cs typeface="Arial MT"/>
              </a:rPr>
              <a:t>RAG-</a:t>
            </a:r>
            <a:r>
              <a:rPr sz="1400">
                <a:latin typeface="Arial MT"/>
                <a:cs typeface="Arial MT"/>
              </a:rPr>
              <a:t>based</a:t>
            </a:r>
            <a:r>
              <a:rPr sz="1400" spc="4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approaches.</a:t>
            </a:r>
            <a:endParaRPr sz="1400">
              <a:latin typeface="Arial MT"/>
              <a:cs typeface="Arial MT"/>
            </a:endParaRPr>
          </a:p>
          <a:p>
            <a:pPr marL="12700" marR="114935" indent="246379">
              <a:lnSpc>
                <a:spcPct val="113900"/>
              </a:lnSpc>
              <a:spcBef>
                <a:spcPts val="1375"/>
              </a:spcBef>
            </a:pPr>
            <a:r>
              <a:rPr sz="1800" b="1" spc="-10">
                <a:latin typeface="Arial"/>
                <a:cs typeface="Arial"/>
              </a:rPr>
              <a:t>Evidence-</a:t>
            </a:r>
            <a:r>
              <a:rPr sz="1800" b="1">
                <a:latin typeface="Arial"/>
                <a:cs typeface="Arial"/>
              </a:rPr>
              <a:t>Grounded</a:t>
            </a:r>
            <a:r>
              <a:rPr sz="1800" b="1" spc="-35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Reasoning</a:t>
            </a:r>
            <a:r>
              <a:rPr sz="1800" b="1" spc="35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:</a:t>
            </a:r>
            <a:r>
              <a:rPr sz="1800" b="1" spc="10"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6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integration</a:t>
            </a:r>
            <a:r>
              <a:rPr sz="1400" spc="-6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b="1">
                <a:latin typeface="Arial"/>
                <a:cs typeface="Arial"/>
              </a:rPr>
              <a:t>RAG</a:t>
            </a:r>
            <a:r>
              <a:rPr sz="1400" b="1" spc="-30"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enables</a:t>
            </a:r>
            <a:r>
              <a:rPr sz="1400" spc="-5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retrieval</a:t>
            </a:r>
            <a:r>
              <a:rPr sz="1400" spc="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of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real-</a:t>
            </a:r>
            <a:r>
              <a:rPr sz="1400" spc="-10">
                <a:latin typeface="Arial MT"/>
                <a:cs typeface="Arial MT"/>
              </a:rPr>
              <a:t>time, </a:t>
            </a:r>
            <a:r>
              <a:rPr sz="1400">
                <a:latin typeface="Arial MT"/>
                <a:cs typeface="Arial MT"/>
              </a:rPr>
              <a:t>trustworthy</a:t>
            </a:r>
            <a:r>
              <a:rPr sz="1400" spc="-6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evidence from</a:t>
            </a:r>
            <a:r>
              <a:rPr sz="1400" spc="-9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external</a:t>
            </a:r>
            <a:r>
              <a:rPr sz="1400" spc="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knowledge sources,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reducing reliance</a:t>
            </a:r>
            <a:r>
              <a:rPr sz="1400" spc="-6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on the LLM's</a:t>
            </a:r>
            <a:r>
              <a:rPr sz="1400" spc="-6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internal knowledge.</a:t>
            </a:r>
            <a:endParaRPr sz="1400">
              <a:latin typeface="Arial MT"/>
              <a:cs typeface="Arial MT"/>
            </a:endParaRPr>
          </a:p>
          <a:p>
            <a:pPr marL="12700" marR="5080" indent="246379" algn="just">
              <a:lnSpc>
                <a:spcPct val="115900"/>
              </a:lnSpc>
              <a:spcBef>
                <a:spcPts val="1335"/>
              </a:spcBef>
            </a:pPr>
            <a:r>
              <a:rPr sz="1800" b="1">
                <a:latin typeface="Arial"/>
                <a:cs typeface="Arial"/>
              </a:rPr>
              <a:t>Explainable</a:t>
            </a:r>
            <a:r>
              <a:rPr sz="1800" b="1" spc="-30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Predictions</a:t>
            </a:r>
            <a:r>
              <a:rPr sz="1800" b="1" spc="-25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:</a:t>
            </a:r>
            <a:r>
              <a:rPr sz="1800" b="1" spc="5"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The</a:t>
            </a:r>
            <a:r>
              <a:rPr sz="1400" spc="-7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Knowledge</a:t>
            </a:r>
            <a:r>
              <a:rPr sz="1400" spc="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Graph</a:t>
            </a:r>
            <a:r>
              <a:rPr sz="1400" spc="-7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provides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b="1">
                <a:latin typeface="Arial"/>
                <a:cs typeface="Arial"/>
              </a:rPr>
              <a:t>reasoning</a:t>
            </a:r>
            <a:r>
              <a:rPr sz="1400" b="1" spc="-80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paths</a:t>
            </a:r>
            <a:r>
              <a:rPr sz="1400" b="1" spc="-10">
                <a:latin typeface="Arial"/>
                <a:cs typeface="Arial"/>
              </a:rPr>
              <a:t> </a:t>
            </a:r>
            <a:r>
              <a:rPr sz="1400">
                <a:latin typeface="Arial MT"/>
                <a:cs typeface="Arial MT"/>
              </a:rPr>
              <a:t>(e.g.,</a:t>
            </a:r>
            <a:r>
              <a:rPr sz="1400" spc="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Claim</a:t>
            </a:r>
            <a:r>
              <a:rPr sz="1400" spc="-85">
                <a:latin typeface="Arial MT"/>
                <a:cs typeface="Arial MT"/>
              </a:rPr>
              <a:t> </a:t>
            </a:r>
            <a:r>
              <a:rPr sz="1400" spc="-50">
                <a:latin typeface="Arial MT"/>
                <a:cs typeface="Arial MT"/>
              </a:rPr>
              <a:t>→ </a:t>
            </a:r>
            <a:r>
              <a:rPr sz="1400">
                <a:latin typeface="Arial MT"/>
                <a:cs typeface="Arial MT"/>
              </a:rPr>
              <a:t>Entity</a:t>
            </a:r>
            <a:r>
              <a:rPr sz="1400" spc="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→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Evidence</a:t>
            </a:r>
            <a:r>
              <a:rPr sz="1400" spc="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→</a:t>
            </a:r>
            <a:r>
              <a:rPr sz="1400" spc="-9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Verdict),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making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predictions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transparent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and</a:t>
            </a:r>
            <a:r>
              <a:rPr sz="1400" spc="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easier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to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interpret.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510AA2-BA34-397D-8CCE-E47DAD05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54CE95-4199-3C57-5B4B-57244255B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83"/>
            <a:ext cx="9144000" cy="50207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/>
              <a:t>System</a:t>
            </a:r>
            <a:r>
              <a:rPr spc="-135"/>
              <a:t> </a:t>
            </a:r>
            <a:r>
              <a:rPr spc="-1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" y="847725"/>
            <a:ext cx="771525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Class</a:t>
            </a:r>
            <a:r>
              <a:rPr spc="-45"/>
              <a:t> </a:t>
            </a:r>
            <a:r>
              <a:rPr spc="-1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876300"/>
            <a:ext cx="829627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Sequence</a:t>
            </a:r>
            <a:r>
              <a:rPr spc="-45"/>
              <a:t> </a:t>
            </a:r>
            <a:r>
              <a:rPr spc="-1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75" y="828675"/>
            <a:ext cx="8448675" cy="4152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176482"/>
            <a:ext cx="8229600" cy="857250"/>
          </a:xfrm>
        </p:spPr>
        <p:txBody>
          <a:bodyPr/>
          <a:lstStyle/>
          <a:p>
            <a:r>
              <a:rPr lang="en-US"/>
              <a:t>Code Snippet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AF82E9-7922-8170-4D20-49531AFA9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" y="0"/>
            <a:ext cx="2842461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7AD32E-B0C4-2AAB-F20C-1F8A910C7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671" y="1171937"/>
            <a:ext cx="3542027" cy="36315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DF5D4-0C38-6460-B4FF-1BE8917D2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296" y="0"/>
            <a:ext cx="26214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6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176482"/>
            <a:ext cx="8229600" cy="857250"/>
          </a:xfrm>
        </p:spPr>
        <p:txBody>
          <a:bodyPr/>
          <a:lstStyle/>
          <a:p>
            <a:r>
              <a:rPr lang="en-US"/>
              <a:t>Output Screens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E05AC8-3029-6A0B-DD21-849AB3CCC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167"/>
            <a:ext cx="4457876" cy="19073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173A9F-9932-CC34-86FA-18971998B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18953"/>
            <a:ext cx="4461199" cy="1978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05F04D-149A-5236-6050-1E4173BFA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127" y="914110"/>
            <a:ext cx="4437873" cy="20148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700F5F-8170-E7EE-1417-12B837EA7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681" y="2927480"/>
            <a:ext cx="4446597" cy="220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6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176482"/>
            <a:ext cx="8229600" cy="414068"/>
          </a:xfrm>
        </p:spPr>
        <p:txBody>
          <a:bodyPr>
            <a:normAutofit fontScale="90000"/>
          </a:bodyPr>
          <a:lstStyle/>
          <a:p>
            <a:r>
              <a:rPr lang="en-US"/>
              <a:t>References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420329" y="590550"/>
            <a:ext cx="8303342" cy="4147369"/>
          </a:xfrm>
        </p:spPr>
        <p:txBody>
          <a:bodyPr>
            <a:noAutofit/>
          </a:bodyPr>
          <a:lstStyle/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Shu, K., Sliva, A., Wang, S., Tang, J., &amp; Liu, H. (2017). Fake News Detection on Social Media: A Data Mining Perspective. ACM SIGKDD Explorations, 19(1), 22–36. https://doi.org/10.1145/3137597.3137600</a:t>
            </a:r>
          </a:p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Shu, K., </a:t>
            </a:r>
            <a:r>
              <a:rPr lang="en-IN" sz="1000" err="1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Mahudeswaran</a:t>
            </a: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D., Wang, S., Lee, D., &amp; Liu, H. (2020). </a:t>
            </a:r>
            <a:r>
              <a:rPr lang="en-IN" sz="1000" err="1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FakeNewsNet</a:t>
            </a: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 Data Repository with News Content, Social Context, and Spatiotemporal Information. Big Data, 8(3), 171–188. https://doi.org/10.1089/big.2020.0062</a:t>
            </a:r>
          </a:p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Deng, L., &amp; Liu, Y. (Eds.). (2018). Deep Learning in Natural Language Processing. Springer. (Background for neural text representations.)</a:t>
            </a:r>
          </a:p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IN" sz="1000" err="1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Veličković</a:t>
            </a: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P., et al. (2018). Graph Attention Networks. International Conference on Learning Representations (ICLR). https://arxiv.org/abs/1710.10903</a:t>
            </a:r>
          </a:p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Monti, F., et al. (2019). Fake News Detection on Social Media using Geometric Deep Learning. arXiv:1902.06673. https://arxiv.org/abs/1902.06673</a:t>
            </a:r>
          </a:p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Lewis, P., et al. (2020). Retrieval-Augmented Generation for Knowledge-Intensive NLP Tasks. </a:t>
            </a:r>
            <a:r>
              <a:rPr lang="en-IN" sz="1000" err="1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https://arxiv.org/abs/2005.11401</a:t>
            </a:r>
          </a:p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Johnson, J., </a:t>
            </a:r>
            <a:r>
              <a:rPr lang="en-IN" sz="1000" err="1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Douze</a:t>
            </a: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M., &amp; Jégou, H. (2019). Billion-scale similarity search with GPUs. IEEE Transactions on Big Data, 7(3), 535–547. https://arxiv.org/abs/1702.08734</a:t>
            </a:r>
          </a:p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Devlin, J., Chang, M.-W., Lee, K., &amp; Toutanova, K. (2019). BERT: Pre-training of Deep Bidirectional Transformers for Language Understanding. NAACL-HLT. https://arxiv.org/abs/1810.04805</a:t>
            </a:r>
          </a:p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Radford, A., et al. (2021). Learning Transferable Visual Models From Natural Language Supervision. ICML. https://arxiv.org/abs/2103.00020</a:t>
            </a:r>
          </a:p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</a:t>
            </a:r>
            <a:r>
              <a:rPr lang="en-IN" sz="1000" err="1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Geometric. UPFD dataset documentation (</a:t>
            </a:r>
            <a:r>
              <a:rPr lang="en-IN" sz="1000" err="1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Politifact</a:t>
            </a: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000" err="1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GossipCop</a:t>
            </a: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propagation graphs). https://pytorch-geometric.readthedocs.io/</a:t>
            </a:r>
          </a:p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 Hugging Face. Transformers documentation. https://huggingface.co/docs/transformers</a:t>
            </a:r>
          </a:p>
          <a:p>
            <a:pPr marL="11430" indent="0">
              <a:spcAft>
                <a:spcPts val="400"/>
              </a:spcAft>
              <a:buSzPct val="200000"/>
              <a:buNone/>
              <a:defRPr sz="1200">
                <a:solidFill>
                  <a:srgbClr val="232323"/>
                </a:solidFill>
                <a:latin typeface="Arial"/>
              </a:defRPr>
            </a:pP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 </a:t>
            </a:r>
            <a:r>
              <a:rPr lang="en-IN" sz="1000" err="1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Groq</a:t>
            </a:r>
            <a:r>
              <a:rPr lang="en-IN" sz="100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API documentation. https://console.groq.com/docs</a:t>
            </a:r>
          </a:p>
          <a:p>
            <a:pPr marL="11430" indent="0">
              <a:buSzPct val="200000"/>
              <a:buNone/>
            </a:pP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858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16325" y="2265044"/>
            <a:ext cx="177292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Thank </a:t>
            </a:r>
            <a:r>
              <a:rPr spc="-7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Fake News Detection using GNN</vt:lpstr>
      <vt:lpstr>Abstract</vt:lpstr>
      <vt:lpstr>Literature Survey</vt:lpstr>
      <vt:lpstr>Existing System</vt:lpstr>
      <vt:lpstr>Disadvantages of Existing System</vt:lpstr>
      <vt:lpstr>Proposed System</vt:lpstr>
      <vt:lpstr>Advantages of Proposed System</vt:lpstr>
      <vt:lpstr>PowerPoint Presentation</vt:lpstr>
      <vt:lpstr>System Design</vt:lpstr>
      <vt:lpstr>Class Diagram</vt:lpstr>
      <vt:lpstr>Sequence Diagram</vt:lpstr>
      <vt:lpstr>Code Snippet</vt:lpstr>
      <vt:lpstr>Output Screens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34</cp:revision>
  <dcterms:created xsi:type="dcterms:W3CDTF">2026-09-27T15:02:41Z</dcterms:created>
  <dcterms:modified xsi:type="dcterms:W3CDTF">2026-10-04T04:16:08Z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2026-09-18T00:00:00Z</vt:filetime>
  </property>
  <property fmtid="{D5CDD505-2E9C-101B-9397-08002B2CF9AE}" pid="4" name="LastSaved">
    <vt:filetime>2026-09-27T00:00:00Z</vt:filetime>
  </property>
</Properties>
</file>